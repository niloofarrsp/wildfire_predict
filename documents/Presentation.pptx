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ink/ink21.xml" ContentType="application/inkml+xml"/>
  <Override PartName="/ppt/ink/ink22.xml" ContentType="application/inkml+xml"/>
  <Override PartName="/ppt/notesSlides/notesSlide7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71" r:id="rId3"/>
    <p:sldId id="272" r:id="rId4"/>
    <p:sldId id="273" r:id="rId5"/>
    <p:sldId id="274" r:id="rId6"/>
    <p:sldId id="281" r:id="rId7"/>
    <p:sldId id="282" r:id="rId8"/>
    <p:sldId id="275" r:id="rId9"/>
    <p:sldId id="276" r:id="rId10"/>
    <p:sldId id="277" r:id="rId11"/>
    <p:sldId id="284" r:id="rId12"/>
    <p:sldId id="28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2E0"/>
    <a:srgbClr val="FFCE3C"/>
    <a:srgbClr val="012F6B"/>
    <a:srgbClr val="A3DBFF"/>
    <a:srgbClr val="F4B39F"/>
    <a:srgbClr val="A0CE98"/>
    <a:srgbClr val="FF7474"/>
    <a:srgbClr val="AAE571"/>
    <a:srgbClr val="FFFFFF"/>
    <a:srgbClr val="3E17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19" autoAdjust="0"/>
    <p:restoredTop sz="94404" autoAdjust="0"/>
  </p:normalViewPr>
  <p:slideViewPr>
    <p:cSldViewPr snapToGrid="0">
      <p:cViewPr varScale="1">
        <p:scale>
          <a:sx n="74" d="100"/>
          <a:sy n="74" d="100"/>
        </p:scale>
        <p:origin x="1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2F68BE-11F0-48CA-88E9-4572B3F1E432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282521D-C5E6-4368-A848-8B83D5827BCC}">
      <dgm:prSet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b="1" dirty="0"/>
            <a:t>Wildfire risk is increasing in many parts of Canada, including Manitoba.</a:t>
          </a:r>
        </a:p>
      </dgm:t>
    </dgm:pt>
    <dgm:pt modelId="{087D573F-24FE-4B30-A0AA-C666A4F5AF92}" type="parTrans" cxnId="{6F77CE03-CB43-452A-B279-5870101D8135}">
      <dgm:prSet/>
      <dgm:spPr/>
      <dgm:t>
        <a:bodyPr/>
        <a:lstStyle/>
        <a:p>
          <a:endParaRPr lang="en-US"/>
        </a:p>
      </dgm:t>
    </dgm:pt>
    <dgm:pt modelId="{1E89FDAE-A456-4D09-BE6C-49B430CF07BA}" type="sibTrans" cxnId="{6F77CE03-CB43-452A-B279-5870101D8135}">
      <dgm:prSet/>
      <dgm:spPr/>
      <dgm:t>
        <a:bodyPr/>
        <a:lstStyle/>
        <a:p>
          <a:endParaRPr lang="en-US"/>
        </a:p>
      </dgm:t>
    </dgm:pt>
    <dgm:pt modelId="{7F95064F-621D-4B71-ABD9-81D36BC44D33}">
      <dgm:prSet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1" dirty="0"/>
            <a:t>Fire Weather Index (FWI)</a:t>
          </a:r>
        </a:p>
        <a:p>
          <a:r>
            <a:rPr lang="en-US" sz="1600" b="0" dirty="0"/>
            <a:t>is a standard index that combines </a:t>
          </a:r>
          <a:r>
            <a:rPr lang="en-US" sz="1600" b="1" dirty="0"/>
            <a:t>temperature, wind, humidity, and precipitation </a:t>
          </a:r>
          <a:r>
            <a:rPr lang="en-US" sz="1600" b="0" dirty="0"/>
            <a:t>to describe fire danger.</a:t>
          </a:r>
        </a:p>
      </dgm:t>
    </dgm:pt>
    <dgm:pt modelId="{22B8CD96-D598-4844-8AAF-CECB9BC68F63}" type="parTrans" cxnId="{112EE09E-2C1D-4B17-818D-C42DA8CFD3D4}">
      <dgm:prSet/>
      <dgm:spPr/>
      <dgm:t>
        <a:bodyPr/>
        <a:lstStyle/>
        <a:p>
          <a:endParaRPr lang="en-US"/>
        </a:p>
      </dgm:t>
    </dgm:pt>
    <dgm:pt modelId="{FC6BA02D-5635-4638-A48B-F325C3E942BE}" type="sibTrans" cxnId="{112EE09E-2C1D-4B17-818D-C42DA8CFD3D4}">
      <dgm:prSet/>
      <dgm:spPr/>
      <dgm:t>
        <a:bodyPr/>
        <a:lstStyle/>
        <a:p>
          <a:endParaRPr lang="en-US"/>
        </a:p>
      </dgm:t>
    </dgm:pt>
    <dgm:pt modelId="{11E17ED4-5519-481A-A305-7186728760AE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b="1" dirty="0"/>
            <a:t>Objectives of this project:</a:t>
          </a:r>
        </a:p>
      </dgm:t>
    </dgm:pt>
    <dgm:pt modelId="{0E4DE308-5512-4BCD-B602-72F0D811EC8B}" type="parTrans" cxnId="{79BC7FAB-C83A-4663-A6F8-E6628F03BB73}">
      <dgm:prSet/>
      <dgm:spPr/>
      <dgm:t>
        <a:bodyPr/>
        <a:lstStyle/>
        <a:p>
          <a:endParaRPr lang="en-US"/>
        </a:p>
      </dgm:t>
    </dgm:pt>
    <dgm:pt modelId="{45BB7FE3-68F7-4A9D-8ADC-9D9AB4529396}" type="sibTrans" cxnId="{79BC7FAB-C83A-4663-A6F8-E6628F03BB73}">
      <dgm:prSet/>
      <dgm:spPr/>
      <dgm:t>
        <a:bodyPr/>
        <a:lstStyle/>
        <a:p>
          <a:endParaRPr lang="en-US"/>
        </a:p>
      </dgm:t>
    </dgm:pt>
    <dgm:pt modelId="{9BDA7BE6-00B7-4C10-B5BF-986DB8F1D821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0" dirty="0"/>
            <a:t>Analyze seasonal behavior of FWI for spring (MAM) and summer (JJA) in Manitoba.</a:t>
          </a:r>
        </a:p>
      </dgm:t>
    </dgm:pt>
    <dgm:pt modelId="{C110B183-82E7-4865-B428-19DDB81AC287}" type="parTrans" cxnId="{A3445E78-C946-4D47-B1D7-1CBAEE3E2F1E}">
      <dgm:prSet/>
      <dgm:spPr/>
      <dgm:t>
        <a:bodyPr/>
        <a:lstStyle/>
        <a:p>
          <a:endParaRPr lang="en-US"/>
        </a:p>
      </dgm:t>
    </dgm:pt>
    <dgm:pt modelId="{1D9667DA-F317-483F-BA32-9FD2EFBA5208}" type="sibTrans" cxnId="{A3445E78-C946-4D47-B1D7-1CBAEE3E2F1E}">
      <dgm:prSet/>
      <dgm:spPr/>
      <dgm:t>
        <a:bodyPr/>
        <a:lstStyle/>
        <a:p>
          <a:endParaRPr lang="en-US"/>
        </a:p>
      </dgm:t>
    </dgm:pt>
    <dgm:pt modelId="{E0EDDB82-91F5-48EB-8BF6-8CBA253C214F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0" dirty="0"/>
            <a:t>Examine correlations between FWI and key meteorological variables.</a:t>
          </a:r>
        </a:p>
      </dgm:t>
    </dgm:pt>
    <dgm:pt modelId="{492A66A4-8125-4AF4-8049-64C7EDB78DF6}" type="parTrans" cxnId="{0FBDC786-C0CA-4495-B2EB-A3CB8207BE13}">
      <dgm:prSet/>
      <dgm:spPr/>
      <dgm:t>
        <a:bodyPr/>
        <a:lstStyle/>
        <a:p>
          <a:endParaRPr lang="en-US"/>
        </a:p>
      </dgm:t>
    </dgm:pt>
    <dgm:pt modelId="{E2ECEABB-9AB3-4867-8D3E-7F710D87A2D9}" type="sibTrans" cxnId="{0FBDC786-C0CA-4495-B2EB-A3CB8207BE13}">
      <dgm:prSet/>
      <dgm:spPr/>
      <dgm:t>
        <a:bodyPr/>
        <a:lstStyle/>
        <a:p>
          <a:endParaRPr lang="en-US"/>
        </a:p>
      </dgm:t>
    </dgm:pt>
    <dgm:pt modelId="{BAFFDD78-82ED-48AB-92F9-B4B50D11FD0B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0" dirty="0"/>
            <a:t>Build and compare predictive models of FWI using local climate variables and ENSO.</a:t>
          </a:r>
        </a:p>
      </dgm:t>
    </dgm:pt>
    <dgm:pt modelId="{FEDABA64-DD67-4C8C-8A06-483940F2E872}" type="parTrans" cxnId="{4CBC95DC-66EA-4ED7-A0EE-1D6441267D76}">
      <dgm:prSet/>
      <dgm:spPr/>
      <dgm:t>
        <a:bodyPr/>
        <a:lstStyle/>
        <a:p>
          <a:endParaRPr lang="en-US"/>
        </a:p>
      </dgm:t>
    </dgm:pt>
    <dgm:pt modelId="{618B17D2-238C-4632-8863-58BB63368C5D}" type="sibTrans" cxnId="{4CBC95DC-66EA-4ED7-A0EE-1D6441267D76}">
      <dgm:prSet/>
      <dgm:spPr/>
      <dgm:t>
        <a:bodyPr/>
        <a:lstStyle/>
        <a:p>
          <a:endParaRPr lang="en-US"/>
        </a:p>
      </dgm:t>
    </dgm:pt>
    <dgm:pt modelId="{98ABFCEF-77F9-49C7-9C6A-662D90E76EC1}" type="pres">
      <dgm:prSet presAssocID="{552F68BE-11F0-48CA-88E9-4572B3F1E432}" presName="Name0" presStyleCnt="0">
        <dgm:presLayoutVars>
          <dgm:dir/>
          <dgm:resizeHandles val="exact"/>
        </dgm:presLayoutVars>
      </dgm:prSet>
      <dgm:spPr/>
    </dgm:pt>
    <dgm:pt modelId="{DCDAC708-D40D-4C7E-904A-9F175D4C606C}" type="pres">
      <dgm:prSet presAssocID="{6282521D-C5E6-4368-A848-8B83D5827BCC}" presName="node" presStyleLbl="node1" presStyleIdx="0" presStyleCnt="3">
        <dgm:presLayoutVars>
          <dgm:bulletEnabled val="1"/>
        </dgm:presLayoutVars>
      </dgm:prSet>
      <dgm:spPr/>
    </dgm:pt>
    <dgm:pt modelId="{AB3C26FF-E1FB-430D-A0EA-A7A24BB9980D}" type="pres">
      <dgm:prSet presAssocID="{1E89FDAE-A456-4D09-BE6C-49B430CF07BA}" presName="sibTrans" presStyleLbl="sibTrans1D1" presStyleIdx="0" presStyleCnt="2"/>
      <dgm:spPr/>
    </dgm:pt>
    <dgm:pt modelId="{082ACEDF-9BDE-4286-BE48-B55A6FA7D067}" type="pres">
      <dgm:prSet presAssocID="{1E89FDAE-A456-4D09-BE6C-49B430CF07BA}" presName="connectorText" presStyleLbl="sibTrans1D1" presStyleIdx="0" presStyleCnt="2"/>
      <dgm:spPr/>
    </dgm:pt>
    <dgm:pt modelId="{F35265BC-41D0-490F-B90F-6191BC01623A}" type="pres">
      <dgm:prSet presAssocID="{7F95064F-621D-4B71-ABD9-81D36BC44D33}" presName="node" presStyleLbl="node1" presStyleIdx="1" presStyleCnt="3">
        <dgm:presLayoutVars>
          <dgm:bulletEnabled val="1"/>
        </dgm:presLayoutVars>
      </dgm:prSet>
      <dgm:spPr/>
    </dgm:pt>
    <dgm:pt modelId="{51370676-3375-4FC7-B5D2-E324394F6AF1}" type="pres">
      <dgm:prSet presAssocID="{FC6BA02D-5635-4638-A48B-F325C3E942BE}" presName="sibTrans" presStyleLbl="sibTrans1D1" presStyleIdx="1" presStyleCnt="2"/>
      <dgm:spPr/>
    </dgm:pt>
    <dgm:pt modelId="{F2F92F95-64E1-463C-B557-F19CBD92B5A3}" type="pres">
      <dgm:prSet presAssocID="{FC6BA02D-5635-4638-A48B-F325C3E942BE}" presName="connectorText" presStyleLbl="sibTrans1D1" presStyleIdx="1" presStyleCnt="2"/>
      <dgm:spPr/>
    </dgm:pt>
    <dgm:pt modelId="{93FA9C64-5A82-4176-A2B1-A1C5AE5C341A}" type="pres">
      <dgm:prSet presAssocID="{11E17ED4-5519-481A-A305-7186728760AE}" presName="node" presStyleLbl="node1" presStyleIdx="2" presStyleCnt="3" custScaleX="220516" custScaleY="102622" custLinFactNeighborX="2191" custLinFactNeighborY="-5727">
        <dgm:presLayoutVars>
          <dgm:bulletEnabled val="1"/>
        </dgm:presLayoutVars>
      </dgm:prSet>
      <dgm:spPr/>
    </dgm:pt>
  </dgm:ptLst>
  <dgm:cxnLst>
    <dgm:cxn modelId="{6F77CE03-CB43-452A-B279-5870101D8135}" srcId="{552F68BE-11F0-48CA-88E9-4572B3F1E432}" destId="{6282521D-C5E6-4368-A848-8B83D5827BCC}" srcOrd="0" destOrd="0" parTransId="{087D573F-24FE-4B30-A0AA-C666A4F5AF92}" sibTransId="{1E89FDAE-A456-4D09-BE6C-49B430CF07BA}"/>
    <dgm:cxn modelId="{1434B721-8056-42ED-B231-1B425308379E}" type="presOf" srcId="{E0EDDB82-91F5-48EB-8BF6-8CBA253C214F}" destId="{93FA9C64-5A82-4176-A2B1-A1C5AE5C341A}" srcOrd="0" destOrd="2" presId="urn:microsoft.com/office/officeart/2016/7/layout/RepeatingBendingProcessNew"/>
    <dgm:cxn modelId="{E81CFC5C-4CF1-481F-989B-669194A5943F}" type="presOf" srcId="{BAFFDD78-82ED-48AB-92F9-B4B50D11FD0B}" destId="{93FA9C64-5A82-4176-A2B1-A1C5AE5C341A}" srcOrd="0" destOrd="3" presId="urn:microsoft.com/office/officeart/2016/7/layout/RepeatingBendingProcessNew"/>
    <dgm:cxn modelId="{537E8B6B-FCFC-428C-83A2-412BF8625DA1}" type="presOf" srcId="{552F68BE-11F0-48CA-88E9-4572B3F1E432}" destId="{98ABFCEF-77F9-49C7-9C6A-662D90E76EC1}" srcOrd="0" destOrd="0" presId="urn:microsoft.com/office/officeart/2016/7/layout/RepeatingBendingProcessNew"/>
    <dgm:cxn modelId="{0F315670-DA77-40BF-AD15-035588455969}" type="presOf" srcId="{1E89FDAE-A456-4D09-BE6C-49B430CF07BA}" destId="{AB3C26FF-E1FB-430D-A0EA-A7A24BB9980D}" srcOrd="0" destOrd="0" presId="urn:microsoft.com/office/officeart/2016/7/layout/RepeatingBendingProcessNew"/>
    <dgm:cxn modelId="{A3445E78-C946-4D47-B1D7-1CBAEE3E2F1E}" srcId="{11E17ED4-5519-481A-A305-7186728760AE}" destId="{9BDA7BE6-00B7-4C10-B5BF-986DB8F1D821}" srcOrd="0" destOrd="0" parTransId="{C110B183-82E7-4865-B428-19DDB81AC287}" sibTransId="{1D9667DA-F317-483F-BA32-9FD2EFBA5208}"/>
    <dgm:cxn modelId="{0FBDC786-C0CA-4495-B2EB-A3CB8207BE13}" srcId="{11E17ED4-5519-481A-A305-7186728760AE}" destId="{E0EDDB82-91F5-48EB-8BF6-8CBA253C214F}" srcOrd="1" destOrd="0" parTransId="{492A66A4-8125-4AF4-8049-64C7EDB78DF6}" sibTransId="{E2ECEABB-9AB3-4867-8D3E-7F710D87A2D9}"/>
    <dgm:cxn modelId="{4B8AC79C-6B93-40EF-8B04-F3C0BC3F18FB}" type="presOf" srcId="{11E17ED4-5519-481A-A305-7186728760AE}" destId="{93FA9C64-5A82-4176-A2B1-A1C5AE5C341A}" srcOrd="0" destOrd="0" presId="urn:microsoft.com/office/officeart/2016/7/layout/RepeatingBendingProcessNew"/>
    <dgm:cxn modelId="{112EE09E-2C1D-4B17-818D-C42DA8CFD3D4}" srcId="{552F68BE-11F0-48CA-88E9-4572B3F1E432}" destId="{7F95064F-621D-4B71-ABD9-81D36BC44D33}" srcOrd="1" destOrd="0" parTransId="{22B8CD96-D598-4844-8AAF-CECB9BC68F63}" sibTransId="{FC6BA02D-5635-4638-A48B-F325C3E942BE}"/>
    <dgm:cxn modelId="{A74A3DA4-6645-452B-85A6-C063D68CAF07}" type="presOf" srcId="{FC6BA02D-5635-4638-A48B-F325C3E942BE}" destId="{51370676-3375-4FC7-B5D2-E324394F6AF1}" srcOrd="0" destOrd="0" presId="urn:microsoft.com/office/officeart/2016/7/layout/RepeatingBendingProcessNew"/>
    <dgm:cxn modelId="{79BC7FAB-C83A-4663-A6F8-E6628F03BB73}" srcId="{552F68BE-11F0-48CA-88E9-4572B3F1E432}" destId="{11E17ED4-5519-481A-A305-7186728760AE}" srcOrd="2" destOrd="0" parTransId="{0E4DE308-5512-4BCD-B602-72F0D811EC8B}" sibTransId="{45BB7FE3-68F7-4A9D-8ADC-9D9AB4529396}"/>
    <dgm:cxn modelId="{A7426ECB-F3AB-4285-A352-DCDB7509048C}" type="presOf" srcId="{7F95064F-621D-4B71-ABD9-81D36BC44D33}" destId="{F35265BC-41D0-490F-B90F-6191BC01623A}" srcOrd="0" destOrd="0" presId="urn:microsoft.com/office/officeart/2016/7/layout/RepeatingBendingProcessNew"/>
    <dgm:cxn modelId="{58CA2DCD-51D7-4117-AA18-F78814AF5557}" type="presOf" srcId="{1E89FDAE-A456-4D09-BE6C-49B430CF07BA}" destId="{082ACEDF-9BDE-4286-BE48-B55A6FA7D067}" srcOrd="1" destOrd="0" presId="urn:microsoft.com/office/officeart/2016/7/layout/RepeatingBendingProcessNew"/>
    <dgm:cxn modelId="{331171D6-9175-43C5-8349-2973A4E6A1ED}" type="presOf" srcId="{FC6BA02D-5635-4638-A48B-F325C3E942BE}" destId="{F2F92F95-64E1-463C-B557-F19CBD92B5A3}" srcOrd="1" destOrd="0" presId="urn:microsoft.com/office/officeart/2016/7/layout/RepeatingBendingProcessNew"/>
    <dgm:cxn modelId="{547454DA-7FB9-4E10-8786-A0FBACDB84DF}" type="presOf" srcId="{6282521D-C5E6-4368-A848-8B83D5827BCC}" destId="{DCDAC708-D40D-4C7E-904A-9F175D4C606C}" srcOrd="0" destOrd="0" presId="urn:microsoft.com/office/officeart/2016/7/layout/RepeatingBendingProcessNew"/>
    <dgm:cxn modelId="{4CBC95DC-66EA-4ED7-A0EE-1D6441267D76}" srcId="{11E17ED4-5519-481A-A305-7186728760AE}" destId="{BAFFDD78-82ED-48AB-92F9-B4B50D11FD0B}" srcOrd="2" destOrd="0" parTransId="{FEDABA64-DD67-4C8C-8A06-483940F2E872}" sibTransId="{618B17D2-238C-4632-8863-58BB63368C5D}"/>
    <dgm:cxn modelId="{F70462DE-7931-4D81-9805-2E85B7AC3596}" type="presOf" srcId="{9BDA7BE6-00B7-4C10-B5BF-986DB8F1D821}" destId="{93FA9C64-5A82-4176-A2B1-A1C5AE5C341A}" srcOrd="0" destOrd="1" presId="urn:microsoft.com/office/officeart/2016/7/layout/RepeatingBendingProcessNew"/>
    <dgm:cxn modelId="{710727C6-AA97-45E2-94D4-80A7AE1139A2}" type="presParOf" srcId="{98ABFCEF-77F9-49C7-9C6A-662D90E76EC1}" destId="{DCDAC708-D40D-4C7E-904A-9F175D4C606C}" srcOrd="0" destOrd="0" presId="urn:microsoft.com/office/officeart/2016/7/layout/RepeatingBendingProcessNew"/>
    <dgm:cxn modelId="{8920CD79-B7DC-452A-ADF2-2EE7001F9624}" type="presParOf" srcId="{98ABFCEF-77F9-49C7-9C6A-662D90E76EC1}" destId="{AB3C26FF-E1FB-430D-A0EA-A7A24BB9980D}" srcOrd="1" destOrd="0" presId="urn:microsoft.com/office/officeart/2016/7/layout/RepeatingBendingProcessNew"/>
    <dgm:cxn modelId="{2C72D381-4A4A-4FA1-86F5-DBC66A4D90BA}" type="presParOf" srcId="{AB3C26FF-E1FB-430D-A0EA-A7A24BB9980D}" destId="{082ACEDF-9BDE-4286-BE48-B55A6FA7D067}" srcOrd="0" destOrd="0" presId="urn:microsoft.com/office/officeart/2016/7/layout/RepeatingBendingProcessNew"/>
    <dgm:cxn modelId="{357B05E7-6D5E-45FB-817F-708BF0A16DEA}" type="presParOf" srcId="{98ABFCEF-77F9-49C7-9C6A-662D90E76EC1}" destId="{F35265BC-41D0-490F-B90F-6191BC01623A}" srcOrd="2" destOrd="0" presId="urn:microsoft.com/office/officeart/2016/7/layout/RepeatingBendingProcessNew"/>
    <dgm:cxn modelId="{1344CA9F-D8D8-48A8-AA30-9028042BDC0F}" type="presParOf" srcId="{98ABFCEF-77F9-49C7-9C6A-662D90E76EC1}" destId="{51370676-3375-4FC7-B5D2-E324394F6AF1}" srcOrd="3" destOrd="0" presId="urn:microsoft.com/office/officeart/2016/7/layout/RepeatingBendingProcessNew"/>
    <dgm:cxn modelId="{D1409BE2-6A03-4C5D-A712-23848F5A5269}" type="presParOf" srcId="{51370676-3375-4FC7-B5D2-E324394F6AF1}" destId="{F2F92F95-64E1-463C-B557-F19CBD92B5A3}" srcOrd="0" destOrd="0" presId="urn:microsoft.com/office/officeart/2016/7/layout/RepeatingBendingProcessNew"/>
    <dgm:cxn modelId="{E8EC9CA8-542D-435D-A643-DDA963FFC8F8}" type="presParOf" srcId="{98ABFCEF-77F9-49C7-9C6A-662D90E76EC1}" destId="{93FA9C64-5A82-4176-A2B1-A1C5AE5C341A}" srcOrd="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3099CC-DFE6-4FF4-8865-E3CE51766542}" type="doc">
      <dgm:prSet loTypeId="urn:microsoft.com/office/officeart/2005/8/layout/vList2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680591F3-9699-4B22-88EC-D466469BA99B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b="1" i="0" baseline="0" dirty="0"/>
            <a:t>Source:</a:t>
          </a:r>
          <a:r>
            <a:rPr lang="en-US" sz="1800" i="0" baseline="0" dirty="0"/>
            <a:t> Canadian Wildland Fire Information System (</a:t>
          </a:r>
          <a:r>
            <a:rPr lang="en-US" sz="1800" b="1" i="0" baseline="0" dirty="0"/>
            <a:t>CWFIS</a:t>
          </a:r>
          <a:r>
            <a:rPr lang="en-US" sz="1800" i="0" baseline="0" dirty="0"/>
            <a:t>) daily data.</a:t>
          </a:r>
          <a:endParaRPr lang="en-US" sz="1800" dirty="0"/>
        </a:p>
      </dgm:t>
    </dgm:pt>
    <dgm:pt modelId="{D65DE1F8-FF74-41E0-9478-BB64C4CCAE00}" type="parTrans" cxnId="{31A85670-35C2-4A80-937F-3C2A304DE07A}">
      <dgm:prSet/>
      <dgm:spPr/>
      <dgm:t>
        <a:bodyPr/>
        <a:lstStyle/>
        <a:p>
          <a:endParaRPr lang="en-US"/>
        </a:p>
      </dgm:t>
    </dgm:pt>
    <dgm:pt modelId="{21ECCF2F-77E6-40D1-BF84-2744F323BC5B}" type="sibTrans" cxnId="{31A85670-35C2-4A80-937F-3C2A304DE07A}">
      <dgm:prSet/>
      <dgm:spPr/>
      <dgm:t>
        <a:bodyPr/>
        <a:lstStyle/>
        <a:p>
          <a:endParaRPr lang="en-US"/>
        </a:p>
      </dgm:t>
    </dgm:pt>
    <dgm:pt modelId="{FA022A61-6AE8-42A7-A349-3F7211DAD616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b="1" i="0" baseline="0"/>
            <a:t>Region:</a:t>
          </a:r>
          <a:r>
            <a:rPr lang="en-US" sz="1800" i="0" baseline="0"/>
            <a:t> Stations located inside </a:t>
          </a:r>
          <a:r>
            <a:rPr lang="en-US" sz="1800" b="1" i="0" baseline="0"/>
            <a:t>Manitoba</a:t>
          </a:r>
          <a:r>
            <a:rPr lang="en-US" sz="1800" i="0" baseline="0"/>
            <a:t> only.</a:t>
          </a:r>
          <a:endParaRPr lang="en-US" sz="1800" dirty="0"/>
        </a:p>
      </dgm:t>
    </dgm:pt>
    <dgm:pt modelId="{E1BAC15E-769A-4FC0-A26A-C9051FBA8592}" type="parTrans" cxnId="{6CB7B5C8-E0B0-4D02-BA55-ADFF597E31A8}">
      <dgm:prSet/>
      <dgm:spPr/>
      <dgm:t>
        <a:bodyPr/>
        <a:lstStyle/>
        <a:p>
          <a:endParaRPr lang="en-US"/>
        </a:p>
      </dgm:t>
    </dgm:pt>
    <dgm:pt modelId="{36595215-CA8E-4B24-B9B3-3F0AC4C27366}" type="sibTrans" cxnId="{6CB7B5C8-E0B0-4D02-BA55-ADFF597E31A8}">
      <dgm:prSet/>
      <dgm:spPr/>
      <dgm:t>
        <a:bodyPr/>
        <a:lstStyle/>
        <a:p>
          <a:endParaRPr lang="en-US"/>
        </a:p>
      </dgm:t>
    </dgm:pt>
    <dgm:pt modelId="{8B42DE40-506F-4391-8759-A0160888DBEE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b="1" i="0" baseline="0"/>
            <a:t>Time period:</a:t>
          </a:r>
          <a:r>
            <a:rPr lang="en-US" sz="1800"/>
            <a:t>1953- 2025</a:t>
          </a:r>
          <a:r>
            <a:rPr lang="en-US" sz="1800" i="0" baseline="0"/>
            <a:t>.</a:t>
          </a:r>
          <a:endParaRPr lang="en-US" sz="1800"/>
        </a:p>
      </dgm:t>
    </dgm:pt>
    <dgm:pt modelId="{E072785A-9722-4AF1-A80D-8E31905BF31A}" type="parTrans" cxnId="{DC1810AD-85B5-49AC-AEFC-A41B03D77FA4}">
      <dgm:prSet/>
      <dgm:spPr/>
      <dgm:t>
        <a:bodyPr/>
        <a:lstStyle/>
        <a:p>
          <a:endParaRPr lang="en-US"/>
        </a:p>
      </dgm:t>
    </dgm:pt>
    <dgm:pt modelId="{729A0853-F353-481F-8D84-1D60DD4FBC9E}" type="sibTrans" cxnId="{DC1810AD-85B5-49AC-AEFC-A41B03D77FA4}">
      <dgm:prSet/>
      <dgm:spPr/>
      <dgm:t>
        <a:bodyPr/>
        <a:lstStyle/>
        <a:p>
          <a:endParaRPr lang="en-US"/>
        </a:p>
      </dgm:t>
    </dgm:pt>
    <dgm:pt modelId="{DEF2F667-902E-4FF4-8296-2B7807BA86D8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b="1" i="0" baseline="0"/>
            <a:t>Main variables used:</a:t>
          </a:r>
          <a:endParaRPr lang="en-US" sz="1800" dirty="0"/>
        </a:p>
      </dgm:t>
    </dgm:pt>
    <dgm:pt modelId="{E41CDAF8-04B9-4B4F-A379-3AB38442F6E8}" type="parTrans" cxnId="{24033F6A-D938-464A-A259-5186BE4F93B1}">
      <dgm:prSet/>
      <dgm:spPr/>
      <dgm:t>
        <a:bodyPr/>
        <a:lstStyle/>
        <a:p>
          <a:endParaRPr lang="en-US"/>
        </a:p>
      </dgm:t>
    </dgm:pt>
    <dgm:pt modelId="{F15C0145-2372-44CD-9AD4-1B53CE0E15EF}" type="sibTrans" cxnId="{24033F6A-D938-464A-A259-5186BE4F93B1}">
      <dgm:prSet/>
      <dgm:spPr/>
      <dgm:t>
        <a:bodyPr/>
        <a:lstStyle/>
        <a:p>
          <a:endParaRPr lang="en-US"/>
        </a:p>
      </dgm:t>
    </dgm:pt>
    <dgm:pt modelId="{045DCAE3-33B0-40DF-98B6-F0C944C08122}">
      <dgm:prSet custT="1"/>
      <dgm:spPr/>
      <dgm:t>
        <a:bodyPr/>
        <a:lstStyle/>
        <a:p>
          <a:r>
            <a:rPr lang="en-US" sz="1800" b="0" i="0" baseline="0" dirty="0"/>
            <a:t>Fire Weather Index (FWI)</a:t>
          </a:r>
          <a:endParaRPr lang="en-US" sz="1800" b="0" dirty="0"/>
        </a:p>
      </dgm:t>
    </dgm:pt>
    <dgm:pt modelId="{C8383F3D-4C40-491D-9A6E-BCE3F2EEBB5D}" type="parTrans" cxnId="{B8DA699F-8EEB-4F8F-A210-CB07ED9B9C43}">
      <dgm:prSet/>
      <dgm:spPr/>
      <dgm:t>
        <a:bodyPr/>
        <a:lstStyle/>
        <a:p>
          <a:endParaRPr lang="en-US"/>
        </a:p>
      </dgm:t>
    </dgm:pt>
    <dgm:pt modelId="{D71BAE31-FA12-450B-9140-86151727C6B9}" type="sibTrans" cxnId="{B8DA699F-8EEB-4F8F-A210-CB07ED9B9C43}">
      <dgm:prSet/>
      <dgm:spPr/>
      <dgm:t>
        <a:bodyPr/>
        <a:lstStyle/>
        <a:p>
          <a:endParaRPr lang="en-US"/>
        </a:p>
      </dgm:t>
    </dgm:pt>
    <dgm:pt modelId="{9BE0726C-E7F0-422B-BC98-54A9D68E3202}">
      <dgm:prSet custT="1"/>
      <dgm:spPr/>
      <dgm:t>
        <a:bodyPr/>
        <a:lstStyle/>
        <a:p>
          <a:r>
            <a:rPr lang="en-US" sz="1800" b="0" i="0" baseline="0" dirty="0"/>
            <a:t>Air temperature (T, Temp)</a:t>
          </a:r>
          <a:endParaRPr lang="en-US" sz="1800" b="0" dirty="0"/>
        </a:p>
      </dgm:t>
    </dgm:pt>
    <dgm:pt modelId="{7E6D3560-A873-4A00-86BD-310E328C047F}" type="parTrans" cxnId="{AA77BF22-3CE4-4AB6-B98A-70F964199EEC}">
      <dgm:prSet/>
      <dgm:spPr/>
      <dgm:t>
        <a:bodyPr/>
        <a:lstStyle/>
        <a:p>
          <a:endParaRPr lang="en-US"/>
        </a:p>
      </dgm:t>
    </dgm:pt>
    <dgm:pt modelId="{95EC7DED-FCFA-4515-92E5-310DE333F94E}" type="sibTrans" cxnId="{AA77BF22-3CE4-4AB6-B98A-70F964199EEC}">
      <dgm:prSet/>
      <dgm:spPr/>
      <dgm:t>
        <a:bodyPr/>
        <a:lstStyle/>
        <a:p>
          <a:endParaRPr lang="en-US"/>
        </a:p>
      </dgm:t>
    </dgm:pt>
    <dgm:pt modelId="{6865F680-F803-4297-9A6E-289AB3EE1A58}">
      <dgm:prSet custT="1"/>
      <dgm:spPr/>
      <dgm:t>
        <a:bodyPr/>
        <a:lstStyle/>
        <a:p>
          <a:r>
            <a:rPr lang="en-US" sz="1800" b="0" i="0" baseline="0" dirty="0"/>
            <a:t>Relative humidity (RH)</a:t>
          </a:r>
          <a:endParaRPr lang="en-US" sz="1800" b="0" dirty="0"/>
        </a:p>
      </dgm:t>
    </dgm:pt>
    <dgm:pt modelId="{60C4FF08-90F4-4343-846F-97210A3640CA}" type="parTrans" cxnId="{C8AD376E-7E88-41D7-894B-258B32BD812B}">
      <dgm:prSet/>
      <dgm:spPr/>
      <dgm:t>
        <a:bodyPr/>
        <a:lstStyle/>
        <a:p>
          <a:endParaRPr lang="en-US"/>
        </a:p>
      </dgm:t>
    </dgm:pt>
    <dgm:pt modelId="{B2CEEECE-10AC-4053-9C1A-B7BD9802C4D6}" type="sibTrans" cxnId="{C8AD376E-7E88-41D7-894B-258B32BD812B}">
      <dgm:prSet/>
      <dgm:spPr/>
      <dgm:t>
        <a:bodyPr/>
        <a:lstStyle/>
        <a:p>
          <a:endParaRPr lang="en-US"/>
        </a:p>
      </dgm:t>
    </dgm:pt>
    <dgm:pt modelId="{B9EED569-F3AB-414C-BC37-08F5934DF868}">
      <dgm:prSet custT="1"/>
      <dgm:spPr/>
      <dgm:t>
        <a:bodyPr/>
        <a:lstStyle/>
        <a:p>
          <a:r>
            <a:rPr lang="en-US" sz="1800" b="0" i="0" baseline="0" dirty="0"/>
            <a:t>Wind speed (</a:t>
          </a:r>
          <a:r>
            <a:rPr lang="en-US" sz="1800" b="0" i="0" baseline="0" dirty="0" err="1"/>
            <a:t>Ws</a:t>
          </a:r>
          <a:r>
            <a:rPr lang="en-US" sz="1800" b="0" i="0" baseline="0" dirty="0"/>
            <a:t>)</a:t>
          </a:r>
          <a:endParaRPr lang="en-US" sz="1800" b="0" dirty="0"/>
        </a:p>
      </dgm:t>
    </dgm:pt>
    <dgm:pt modelId="{F29B6AB7-FA1A-4A1E-9522-D0D4BBFCB8C7}" type="parTrans" cxnId="{DC5F0EAB-2D68-4078-9505-FB6F69DC9E98}">
      <dgm:prSet/>
      <dgm:spPr/>
      <dgm:t>
        <a:bodyPr/>
        <a:lstStyle/>
        <a:p>
          <a:endParaRPr lang="en-US"/>
        </a:p>
      </dgm:t>
    </dgm:pt>
    <dgm:pt modelId="{4E59D488-8780-4897-86AF-22ECF85E3422}" type="sibTrans" cxnId="{DC5F0EAB-2D68-4078-9505-FB6F69DC9E98}">
      <dgm:prSet/>
      <dgm:spPr/>
      <dgm:t>
        <a:bodyPr/>
        <a:lstStyle/>
        <a:p>
          <a:endParaRPr lang="en-US"/>
        </a:p>
      </dgm:t>
    </dgm:pt>
    <dgm:pt modelId="{00B5DE1F-F61B-48C1-B88A-9C0F6E15EC2B}">
      <dgm:prSet custT="1"/>
      <dgm:spPr/>
      <dgm:t>
        <a:bodyPr/>
        <a:lstStyle/>
        <a:p>
          <a:r>
            <a:rPr lang="en-US" sz="1800" b="0" i="0" baseline="0" dirty="0"/>
            <a:t>Precipitation (</a:t>
          </a:r>
          <a:r>
            <a:rPr lang="en-US" sz="1800" b="0" i="0" baseline="0" dirty="0" err="1"/>
            <a:t>Precip,P</a:t>
          </a:r>
          <a:r>
            <a:rPr lang="en-US" sz="1800" b="0" i="0" baseline="0" dirty="0"/>
            <a:t>)</a:t>
          </a:r>
          <a:endParaRPr lang="en-US" sz="1800" b="0" dirty="0"/>
        </a:p>
      </dgm:t>
    </dgm:pt>
    <dgm:pt modelId="{88076E25-DEE9-458E-AF7F-00C73D013E63}" type="parTrans" cxnId="{A111E57F-6D85-414D-9546-0C52D1F24C77}">
      <dgm:prSet/>
      <dgm:spPr/>
      <dgm:t>
        <a:bodyPr/>
        <a:lstStyle/>
        <a:p>
          <a:endParaRPr lang="en-US"/>
        </a:p>
      </dgm:t>
    </dgm:pt>
    <dgm:pt modelId="{4B0F25BF-14C5-4F78-95DD-1575F3362E24}" type="sibTrans" cxnId="{A111E57F-6D85-414D-9546-0C52D1F24C77}">
      <dgm:prSet/>
      <dgm:spPr/>
      <dgm:t>
        <a:bodyPr/>
        <a:lstStyle/>
        <a:p>
          <a:endParaRPr lang="en-US"/>
        </a:p>
      </dgm:t>
    </dgm:pt>
    <dgm:pt modelId="{67EA632B-1FD3-4C3E-BCC1-E99D1C4F1D14}">
      <dgm:prSet custT="1"/>
      <dgm:spPr/>
      <dgm:t>
        <a:bodyPr/>
        <a:lstStyle/>
        <a:p>
          <a:r>
            <a:rPr lang="en-US" sz="1800" b="0" i="0" baseline="0" dirty="0"/>
            <a:t>ENSO index (Niño 3.4) from global climate databases</a:t>
          </a:r>
          <a:endParaRPr lang="en-US" sz="1800" b="0" dirty="0"/>
        </a:p>
      </dgm:t>
    </dgm:pt>
    <dgm:pt modelId="{51752086-4DA6-4745-AFD1-D333F64F6529}" type="parTrans" cxnId="{9BFB2E95-224E-4640-B13B-FD9DDB1643BE}">
      <dgm:prSet/>
      <dgm:spPr/>
      <dgm:t>
        <a:bodyPr/>
        <a:lstStyle/>
        <a:p>
          <a:endParaRPr lang="en-US"/>
        </a:p>
      </dgm:t>
    </dgm:pt>
    <dgm:pt modelId="{340FAA3B-94E5-4C95-B5E2-8ACA7E49AC8E}" type="sibTrans" cxnId="{9BFB2E95-224E-4640-B13B-FD9DDB1643BE}">
      <dgm:prSet/>
      <dgm:spPr/>
      <dgm:t>
        <a:bodyPr/>
        <a:lstStyle/>
        <a:p>
          <a:endParaRPr lang="en-US"/>
        </a:p>
      </dgm:t>
    </dgm:pt>
    <dgm:pt modelId="{EF8BA06C-5DC2-4195-94B0-464D789F0980}" type="pres">
      <dgm:prSet presAssocID="{2B3099CC-DFE6-4FF4-8865-E3CE51766542}" presName="linear" presStyleCnt="0">
        <dgm:presLayoutVars>
          <dgm:animLvl val="lvl"/>
          <dgm:resizeHandles val="exact"/>
        </dgm:presLayoutVars>
      </dgm:prSet>
      <dgm:spPr/>
    </dgm:pt>
    <dgm:pt modelId="{8756EB09-FE8D-41D0-8E06-5202D7437544}" type="pres">
      <dgm:prSet presAssocID="{680591F3-9699-4B22-88EC-D466469BA99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15F65C1-51D2-4511-AB93-069E5EF9CBD1}" type="pres">
      <dgm:prSet presAssocID="{21ECCF2F-77E6-40D1-BF84-2744F323BC5B}" presName="spacer" presStyleCnt="0"/>
      <dgm:spPr/>
    </dgm:pt>
    <dgm:pt modelId="{122A1505-3F56-4515-93F5-1A7400862EAE}" type="pres">
      <dgm:prSet presAssocID="{FA022A61-6AE8-42A7-A349-3F7211DAD61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EA80E97-539F-479E-AA0C-405F826D03E5}" type="pres">
      <dgm:prSet presAssocID="{36595215-CA8E-4B24-B9B3-3F0AC4C27366}" presName="spacer" presStyleCnt="0"/>
      <dgm:spPr/>
    </dgm:pt>
    <dgm:pt modelId="{CBD35391-A659-46F7-AB7B-01B7F52F3A64}" type="pres">
      <dgm:prSet presAssocID="{8B42DE40-506F-4391-8759-A0160888DBE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122C947-A918-4A34-BD2A-5B29CAAC756E}" type="pres">
      <dgm:prSet presAssocID="{729A0853-F353-481F-8D84-1D60DD4FBC9E}" presName="spacer" presStyleCnt="0"/>
      <dgm:spPr/>
    </dgm:pt>
    <dgm:pt modelId="{1F8BFB92-14CE-49BA-92D9-A7EFA43A15AE}" type="pres">
      <dgm:prSet presAssocID="{DEF2F667-902E-4FF4-8296-2B7807BA86D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991B71D-62A0-476D-9476-2E6C4EA1DBA1}" type="pres">
      <dgm:prSet presAssocID="{DEF2F667-902E-4FF4-8296-2B7807BA86D8}" presName="childText" presStyleLbl="revTx" presStyleIdx="0" presStyleCnt="1" custLinFactNeighborX="2965" custLinFactNeighborY="-2873">
        <dgm:presLayoutVars>
          <dgm:bulletEnabled val="1"/>
        </dgm:presLayoutVars>
      </dgm:prSet>
      <dgm:spPr/>
    </dgm:pt>
  </dgm:ptLst>
  <dgm:cxnLst>
    <dgm:cxn modelId="{F833A200-EF46-4335-A0C9-D1D3191C3768}" type="presOf" srcId="{8B42DE40-506F-4391-8759-A0160888DBEE}" destId="{CBD35391-A659-46F7-AB7B-01B7F52F3A64}" srcOrd="0" destOrd="0" presId="urn:microsoft.com/office/officeart/2005/8/layout/vList2"/>
    <dgm:cxn modelId="{0555E51C-1960-4712-B5E3-A4C13D17E0F1}" type="presOf" srcId="{B9EED569-F3AB-414C-BC37-08F5934DF868}" destId="{9991B71D-62A0-476D-9476-2E6C4EA1DBA1}" srcOrd="0" destOrd="3" presId="urn:microsoft.com/office/officeart/2005/8/layout/vList2"/>
    <dgm:cxn modelId="{57223F1E-26E6-4A14-B997-0868A3B3D630}" type="presOf" srcId="{DEF2F667-902E-4FF4-8296-2B7807BA86D8}" destId="{1F8BFB92-14CE-49BA-92D9-A7EFA43A15AE}" srcOrd="0" destOrd="0" presId="urn:microsoft.com/office/officeart/2005/8/layout/vList2"/>
    <dgm:cxn modelId="{AA77BF22-3CE4-4AB6-B98A-70F964199EEC}" srcId="{DEF2F667-902E-4FF4-8296-2B7807BA86D8}" destId="{9BE0726C-E7F0-422B-BC98-54A9D68E3202}" srcOrd="1" destOrd="0" parTransId="{7E6D3560-A873-4A00-86BD-310E328C047F}" sibTransId="{95EC7DED-FCFA-4515-92E5-310DE333F94E}"/>
    <dgm:cxn modelId="{061EEA29-CB8C-44FC-80C0-A037A4302971}" type="presOf" srcId="{67EA632B-1FD3-4C3E-BCC1-E99D1C4F1D14}" destId="{9991B71D-62A0-476D-9476-2E6C4EA1DBA1}" srcOrd="0" destOrd="5" presId="urn:microsoft.com/office/officeart/2005/8/layout/vList2"/>
    <dgm:cxn modelId="{2D51E536-9470-4B8C-9FC6-D3A40C0A78E6}" type="presOf" srcId="{9BE0726C-E7F0-422B-BC98-54A9D68E3202}" destId="{9991B71D-62A0-476D-9476-2E6C4EA1DBA1}" srcOrd="0" destOrd="1" presId="urn:microsoft.com/office/officeart/2005/8/layout/vList2"/>
    <dgm:cxn modelId="{7CB7833C-DBAD-441E-B1D5-B159304D9F9D}" type="presOf" srcId="{2B3099CC-DFE6-4FF4-8865-E3CE51766542}" destId="{EF8BA06C-5DC2-4195-94B0-464D789F0980}" srcOrd="0" destOrd="0" presId="urn:microsoft.com/office/officeart/2005/8/layout/vList2"/>
    <dgm:cxn modelId="{266CCE44-3FE2-4524-AC39-E4E08FC4DA25}" type="presOf" srcId="{680591F3-9699-4B22-88EC-D466469BA99B}" destId="{8756EB09-FE8D-41D0-8E06-5202D7437544}" srcOrd="0" destOrd="0" presId="urn:microsoft.com/office/officeart/2005/8/layout/vList2"/>
    <dgm:cxn modelId="{24033F6A-D938-464A-A259-5186BE4F93B1}" srcId="{2B3099CC-DFE6-4FF4-8865-E3CE51766542}" destId="{DEF2F667-902E-4FF4-8296-2B7807BA86D8}" srcOrd="3" destOrd="0" parTransId="{E41CDAF8-04B9-4B4F-A379-3AB38442F6E8}" sibTransId="{F15C0145-2372-44CD-9AD4-1B53CE0E15EF}"/>
    <dgm:cxn modelId="{C8AD376E-7E88-41D7-894B-258B32BD812B}" srcId="{DEF2F667-902E-4FF4-8296-2B7807BA86D8}" destId="{6865F680-F803-4297-9A6E-289AB3EE1A58}" srcOrd="2" destOrd="0" parTransId="{60C4FF08-90F4-4343-846F-97210A3640CA}" sibTransId="{B2CEEECE-10AC-4053-9C1A-B7BD9802C4D6}"/>
    <dgm:cxn modelId="{31A85670-35C2-4A80-937F-3C2A304DE07A}" srcId="{2B3099CC-DFE6-4FF4-8865-E3CE51766542}" destId="{680591F3-9699-4B22-88EC-D466469BA99B}" srcOrd="0" destOrd="0" parTransId="{D65DE1F8-FF74-41E0-9478-BB64C4CCAE00}" sibTransId="{21ECCF2F-77E6-40D1-BF84-2744F323BC5B}"/>
    <dgm:cxn modelId="{A111E57F-6D85-414D-9546-0C52D1F24C77}" srcId="{DEF2F667-902E-4FF4-8296-2B7807BA86D8}" destId="{00B5DE1F-F61B-48C1-B88A-9C0F6E15EC2B}" srcOrd="4" destOrd="0" parTransId="{88076E25-DEE9-458E-AF7F-00C73D013E63}" sibTransId="{4B0F25BF-14C5-4F78-95DD-1575F3362E24}"/>
    <dgm:cxn modelId="{9BC0C194-21D5-4147-A740-C8B7EB5AA7B5}" type="presOf" srcId="{045DCAE3-33B0-40DF-98B6-F0C944C08122}" destId="{9991B71D-62A0-476D-9476-2E6C4EA1DBA1}" srcOrd="0" destOrd="0" presId="urn:microsoft.com/office/officeart/2005/8/layout/vList2"/>
    <dgm:cxn modelId="{9BFB2E95-224E-4640-B13B-FD9DDB1643BE}" srcId="{DEF2F667-902E-4FF4-8296-2B7807BA86D8}" destId="{67EA632B-1FD3-4C3E-BCC1-E99D1C4F1D14}" srcOrd="5" destOrd="0" parTransId="{51752086-4DA6-4745-AFD1-D333F64F6529}" sibTransId="{340FAA3B-94E5-4C95-B5E2-8ACA7E49AC8E}"/>
    <dgm:cxn modelId="{4E45EC98-EA85-48DA-91FE-B65E2D8EB16B}" type="presOf" srcId="{00B5DE1F-F61B-48C1-B88A-9C0F6E15EC2B}" destId="{9991B71D-62A0-476D-9476-2E6C4EA1DBA1}" srcOrd="0" destOrd="4" presId="urn:microsoft.com/office/officeart/2005/8/layout/vList2"/>
    <dgm:cxn modelId="{B8DA699F-8EEB-4F8F-A210-CB07ED9B9C43}" srcId="{DEF2F667-902E-4FF4-8296-2B7807BA86D8}" destId="{045DCAE3-33B0-40DF-98B6-F0C944C08122}" srcOrd="0" destOrd="0" parTransId="{C8383F3D-4C40-491D-9A6E-BCE3F2EEBB5D}" sibTransId="{D71BAE31-FA12-450B-9140-86151727C6B9}"/>
    <dgm:cxn modelId="{DC5F0EAB-2D68-4078-9505-FB6F69DC9E98}" srcId="{DEF2F667-902E-4FF4-8296-2B7807BA86D8}" destId="{B9EED569-F3AB-414C-BC37-08F5934DF868}" srcOrd="3" destOrd="0" parTransId="{F29B6AB7-FA1A-4A1E-9522-D0D4BBFCB8C7}" sibTransId="{4E59D488-8780-4897-86AF-22ECF85E3422}"/>
    <dgm:cxn modelId="{DC1810AD-85B5-49AC-AEFC-A41B03D77FA4}" srcId="{2B3099CC-DFE6-4FF4-8865-E3CE51766542}" destId="{8B42DE40-506F-4391-8759-A0160888DBEE}" srcOrd="2" destOrd="0" parTransId="{E072785A-9722-4AF1-A80D-8E31905BF31A}" sibTransId="{729A0853-F353-481F-8D84-1D60DD4FBC9E}"/>
    <dgm:cxn modelId="{98C0C2BE-FA52-46EE-9EF6-262BFE7D948E}" type="presOf" srcId="{6865F680-F803-4297-9A6E-289AB3EE1A58}" destId="{9991B71D-62A0-476D-9476-2E6C4EA1DBA1}" srcOrd="0" destOrd="2" presId="urn:microsoft.com/office/officeart/2005/8/layout/vList2"/>
    <dgm:cxn modelId="{6CB7B5C8-E0B0-4D02-BA55-ADFF597E31A8}" srcId="{2B3099CC-DFE6-4FF4-8865-E3CE51766542}" destId="{FA022A61-6AE8-42A7-A349-3F7211DAD616}" srcOrd="1" destOrd="0" parTransId="{E1BAC15E-769A-4FC0-A26A-C9051FBA8592}" sibTransId="{36595215-CA8E-4B24-B9B3-3F0AC4C27366}"/>
    <dgm:cxn modelId="{E6E403F3-A070-4E35-82C5-56067611FDCF}" type="presOf" srcId="{FA022A61-6AE8-42A7-A349-3F7211DAD616}" destId="{122A1505-3F56-4515-93F5-1A7400862EAE}" srcOrd="0" destOrd="0" presId="urn:microsoft.com/office/officeart/2005/8/layout/vList2"/>
    <dgm:cxn modelId="{B2BA7446-3EAF-4BBE-970E-66C6C9419815}" type="presParOf" srcId="{EF8BA06C-5DC2-4195-94B0-464D789F0980}" destId="{8756EB09-FE8D-41D0-8E06-5202D7437544}" srcOrd="0" destOrd="0" presId="urn:microsoft.com/office/officeart/2005/8/layout/vList2"/>
    <dgm:cxn modelId="{EAB4C892-8BAE-489F-B9FD-6CD8A89A780D}" type="presParOf" srcId="{EF8BA06C-5DC2-4195-94B0-464D789F0980}" destId="{215F65C1-51D2-4511-AB93-069E5EF9CBD1}" srcOrd="1" destOrd="0" presId="urn:microsoft.com/office/officeart/2005/8/layout/vList2"/>
    <dgm:cxn modelId="{74B98842-2D24-44C6-AEEB-B408D2ABC80C}" type="presParOf" srcId="{EF8BA06C-5DC2-4195-94B0-464D789F0980}" destId="{122A1505-3F56-4515-93F5-1A7400862EAE}" srcOrd="2" destOrd="0" presId="urn:microsoft.com/office/officeart/2005/8/layout/vList2"/>
    <dgm:cxn modelId="{4810582E-2FC9-4AE9-B21C-F4E5E831B11A}" type="presParOf" srcId="{EF8BA06C-5DC2-4195-94B0-464D789F0980}" destId="{6EA80E97-539F-479E-AA0C-405F826D03E5}" srcOrd="3" destOrd="0" presId="urn:microsoft.com/office/officeart/2005/8/layout/vList2"/>
    <dgm:cxn modelId="{E96E9413-7D59-46D1-BE85-820062888EF1}" type="presParOf" srcId="{EF8BA06C-5DC2-4195-94B0-464D789F0980}" destId="{CBD35391-A659-46F7-AB7B-01B7F52F3A64}" srcOrd="4" destOrd="0" presId="urn:microsoft.com/office/officeart/2005/8/layout/vList2"/>
    <dgm:cxn modelId="{8EA71879-4732-46C3-BE88-882786183561}" type="presParOf" srcId="{EF8BA06C-5DC2-4195-94B0-464D789F0980}" destId="{D122C947-A918-4A34-BD2A-5B29CAAC756E}" srcOrd="5" destOrd="0" presId="urn:microsoft.com/office/officeart/2005/8/layout/vList2"/>
    <dgm:cxn modelId="{941667FA-F66A-40E6-B3D5-94C66CCD612F}" type="presParOf" srcId="{EF8BA06C-5DC2-4195-94B0-464D789F0980}" destId="{1F8BFB92-14CE-49BA-92D9-A7EFA43A15AE}" srcOrd="6" destOrd="0" presId="urn:microsoft.com/office/officeart/2005/8/layout/vList2"/>
    <dgm:cxn modelId="{F2755491-8D4A-4173-9B64-AB59262E6F35}" type="presParOf" srcId="{EF8BA06C-5DC2-4195-94B0-464D789F0980}" destId="{9991B71D-62A0-476D-9476-2E6C4EA1DBA1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DD43A32-4CC5-4939-B9FB-2E60F8344AB1}" type="doc">
      <dgm:prSet loTypeId="urn:microsoft.com/office/officeart/2005/8/layout/hChevron3" loCatId="process" qsTypeId="urn:microsoft.com/office/officeart/2005/8/quickstyle/simple3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DC84D348-D782-405E-8635-66E358814E98}">
      <dgm:prSet phldrT="[Text]" phldr="0"/>
      <dgm:spPr/>
      <dgm:t>
        <a:bodyPr/>
        <a:lstStyle/>
        <a:p>
          <a:r>
            <a:rPr lang="en-US" dirty="0"/>
            <a:t>Data</a:t>
          </a:r>
        </a:p>
      </dgm:t>
    </dgm:pt>
    <dgm:pt modelId="{95EFA135-79FA-4C88-A815-403BB4A42E25}" type="parTrans" cxnId="{42011A44-F99A-41D1-8354-76BCF1DC9EC1}">
      <dgm:prSet/>
      <dgm:spPr/>
      <dgm:t>
        <a:bodyPr/>
        <a:lstStyle/>
        <a:p>
          <a:endParaRPr lang="en-US"/>
        </a:p>
      </dgm:t>
    </dgm:pt>
    <dgm:pt modelId="{5FBEC734-8911-4E72-8103-2C10E07A1039}" type="sibTrans" cxnId="{42011A44-F99A-41D1-8354-76BCF1DC9EC1}">
      <dgm:prSet/>
      <dgm:spPr/>
      <dgm:t>
        <a:bodyPr/>
        <a:lstStyle/>
        <a:p>
          <a:endParaRPr lang="en-US"/>
        </a:p>
      </dgm:t>
    </dgm:pt>
    <dgm:pt modelId="{517F925A-21A4-46C6-8E39-C9AF5D760051}">
      <dgm:prSet phldrT="[Text]" phldr="0"/>
      <dgm:spPr/>
      <dgm:t>
        <a:bodyPr/>
        <a:lstStyle/>
        <a:p>
          <a:r>
            <a:rPr lang="en-US"/>
            <a:t>QC &amp; Filtering</a:t>
          </a:r>
          <a:endParaRPr lang="en-US" dirty="0"/>
        </a:p>
      </dgm:t>
    </dgm:pt>
    <dgm:pt modelId="{397DD5EE-D33C-4248-B1BD-4724F7DFAAF2}" type="parTrans" cxnId="{369EABF3-5D4C-4909-86C9-0013C1B0761E}">
      <dgm:prSet/>
      <dgm:spPr/>
      <dgm:t>
        <a:bodyPr/>
        <a:lstStyle/>
        <a:p>
          <a:endParaRPr lang="en-US"/>
        </a:p>
      </dgm:t>
    </dgm:pt>
    <dgm:pt modelId="{7FEDC0DC-00DA-481A-BE38-45AA902B554F}" type="sibTrans" cxnId="{369EABF3-5D4C-4909-86C9-0013C1B0761E}">
      <dgm:prSet/>
      <dgm:spPr/>
      <dgm:t>
        <a:bodyPr/>
        <a:lstStyle/>
        <a:p>
          <a:endParaRPr lang="en-US"/>
        </a:p>
      </dgm:t>
    </dgm:pt>
    <dgm:pt modelId="{2DF0C6CC-A0CE-4F0B-B255-CE3C059AE78C}">
      <dgm:prSet phldrT="[Text]" phldr="0"/>
      <dgm:spPr/>
      <dgm:t>
        <a:bodyPr/>
        <a:lstStyle/>
        <a:p>
          <a:r>
            <a:rPr lang="en-US"/>
            <a:t>Seasonal aggregation</a:t>
          </a:r>
          <a:endParaRPr lang="en-US" dirty="0"/>
        </a:p>
      </dgm:t>
    </dgm:pt>
    <dgm:pt modelId="{4928C0CA-FF81-445A-8D0B-4E350164FAC3}" type="parTrans" cxnId="{AD4C4FF2-5D69-4807-BA76-4493382141CE}">
      <dgm:prSet/>
      <dgm:spPr/>
      <dgm:t>
        <a:bodyPr/>
        <a:lstStyle/>
        <a:p>
          <a:endParaRPr lang="en-US"/>
        </a:p>
      </dgm:t>
    </dgm:pt>
    <dgm:pt modelId="{47D311FC-8C6B-420D-B484-012957680335}" type="sibTrans" cxnId="{AD4C4FF2-5D69-4807-BA76-4493382141CE}">
      <dgm:prSet/>
      <dgm:spPr/>
      <dgm:t>
        <a:bodyPr/>
        <a:lstStyle/>
        <a:p>
          <a:endParaRPr lang="en-US"/>
        </a:p>
      </dgm:t>
    </dgm:pt>
    <dgm:pt modelId="{F1ADB8C6-EF22-4847-8868-6A86A4F5EAFB}">
      <dgm:prSet phldrT="[Text]" phldr="0"/>
      <dgm:spPr/>
      <dgm:t>
        <a:bodyPr/>
        <a:lstStyle/>
        <a:p>
          <a:r>
            <a:rPr lang="en-US"/>
            <a:t>FWI Classes</a:t>
          </a:r>
          <a:endParaRPr lang="en-US" dirty="0"/>
        </a:p>
      </dgm:t>
    </dgm:pt>
    <dgm:pt modelId="{7A4EB440-A6BC-44FA-A49E-7BAD22B4AAE6}" type="parTrans" cxnId="{427B89D0-7D41-40DC-9F90-043D49DEAE33}">
      <dgm:prSet/>
      <dgm:spPr/>
      <dgm:t>
        <a:bodyPr/>
        <a:lstStyle/>
        <a:p>
          <a:endParaRPr lang="en-US"/>
        </a:p>
      </dgm:t>
    </dgm:pt>
    <dgm:pt modelId="{FBDB3BD0-9956-4BC3-B87D-1FAD979FA08D}" type="sibTrans" cxnId="{427B89D0-7D41-40DC-9F90-043D49DEAE33}">
      <dgm:prSet/>
      <dgm:spPr/>
      <dgm:t>
        <a:bodyPr/>
        <a:lstStyle/>
        <a:p>
          <a:endParaRPr lang="en-US"/>
        </a:p>
      </dgm:t>
    </dgm:pt>
    <dgm:pt modelId="{22C4F185-0247-4E36-B652-3ACDF3E33B91}">
      <dgm:prSet phldrT="[Text]" phldr="0"/>
      <dgm:spPr/>
      <dgm:t>
        <a:bodyPr/>
        <a:lstStyle/>
        <a:p>
          <a:r>
            <a:rPr lang="en-US"/>
            <a:t>Models &amp; Evaluation</a:t>
          </a:r>
          <a:endParaRPr lang="en-US" dirty="0"/>
        </a:p>
      </dgm:t>
    </dgm:pt>
    <dgm:pt modelId="{362618B9-E2C9-491B-A793-465C2D66042C}" type="parTrans" cxnId="{2EA01F7D-2F21-4B21-B6DE-B8A649130DBF}">
      <dgm:prSet/>
      <dgm:spPr/>
      <dgm:t>
        <a:bodyPr/>
        <a:lstStyle/>
        <a:p>
          <a:endParaRPr lang="en-US"/>
        </a:p>
      </dgm:t>
    </dgm:pt>
    <dgm:pt modelId="{37B2AE41-13B6-46D2-BB84-B588ACD3995D}" type="sibTrans" cxnId="{2EA01F7D-2F21-4B21-B6DE-B8A649130DBF}">
      <dgm:prSet/>
      <dgm:spPr/>
      <dgm:t>
        <a:bodyPr/>
        <a:lstStyle/>
        <a:p>
          <a:endParaRPr lang="en-US"/>
        </a:p>
      </dgm:t>
    </dgm:pt>
    <dgm:pt modelId="{95EDD9AF-EEE9-4AF5-91B5-AA09CFE92BF6}" type="pres">
      <dgm:prSet presAssocID="{ADD43A32-4CC5-4939-B9FB-2E60F8344AB1}" presName="Name0" presStyleCnt="0">
        <dgm:presLayoutVars>
          <dgm:dir/>
          <dgm:resizeHandles val="exact"/>
        </dgm:presLayoutVars>
      </dgm:prSet>
      <dgm:spPr/>
    </dgm:pt>
    <dgm:pt modelId="{021FF9FC-F939-4F61-8184-3F937364EC60}" type="pres">
      <dgm:prSet presAssocID="{DC84D348-D782-405E-8635-66E358814E98}" presName="parTxOnly" presStyleLbl="node1" presStyleIdx="0" presStyleCnt="5">
        <dgm:presLayoutVars>
          <dgm:bulletEnabled val="1"/>
        </dgm:presLayoutVars>
      </dgm:prSet>
      <dgm:spPr/>
    </dgm:pt>
    <dgm:pt modelId="{E08B2AF5-5D4B-46C4-9A4E-76106EF4E898}" type="pres">
      <dgm:prSet presAssocID="{5FBEC734-8911-4E72-8103-2C10E07A1039}" presName="parSpace" presStyleCnt="0"/>
      <dgm:spPr/>
    </dgm:pt>
    <dgm:pt modelId="{0E4C4E35-9901-43DA-893E-812F21174117}" type="pres">
      <dgm:prSet presAssocID="{517F925A-21A4-46C6-8E39-C9AF5D760051}" presName="parTxOnly" presStyleLbl="node1" presStyleIdx="1" presStyleCnt="5">
        <dgm:presLayoutVars>
          <dgm:bulletEnabled val="1"/>
        </dgm:presLayoutVars>
      </dgm:prSet>
      <dgm:spPr/>
    </dgm:pt>
    <dgm:pt modelId="{D2F095A8-ED06-4306-BB21-517D77E4B32A}" type="pres">
      <dgm:prSet presAssocID="{7FEDC0DC-00DA-481A-BE38-45AA902B554F}" presName="parSpace" presStyleCnt="0"/>
      <dgm:spPr/>
    </dgm:pt>
    <dgm:pt modelId="{82D8670D-F254-434D-A1AF-37B3912F21B7}" type="pres">
      <dgm:prSet presAssocID="{2DF0C6CC-A0CE-4F0B-B255-CE3C059AE78C}" presName="parTxOnly" presStyleLbl="node1" presStyleIdx="2" presStyleCnt="5">
        <dgm:presLayoutVars>
          <dgm:bulletEnabled val="1"/>
        </dgm:presLayoutVars>
      </dgm:prSet>
      <dgm:spPr/>
    </dgm:pt>
    <dgm:pt modelId="{47306256-4F7E-49B5-84B3-BD8B2C2154F7}" type="pres">
      <dgm:prSet presAssocID="{47D311FC-8C6B-420D-B484-012957680335}" presName="parSpace" presStyleCnt="0"/>
      <dgm:spPr/>
    </dgm:pt>
    <dgm:pt modelId="{93403D49-2E73-459B-B950-F7FCDAC184C3}" type="pres">
      <dgm:prSet presAssocID="{F1ADB8C6-EF22-4847-8868-6A86A4F5EAFB}" presName="parTxOnly" presStyleLbl="node1" presStyleIdx="3" presStyleCnt="5">
        <dgm:presLayoutVars>
          <dgm:bulletEnabled val="1"/>
        </dgm:presLayoutVars>
      </dgm:prSet>
      <dgm:spPr/>
    </dgm:pt>
    <dgm:pt modelId="{06C5E877-B198-4FEF-9445-5B1F637C692B}" type="pres">
      <dgm:prSet presAssocID="{FBDB3BD0-9956-4BC3-B87D-1FAD979FA08D}" presName="parSpace" presStyleCnt="0"/>
      <dgm:spPr/>
    </dgm:pt>
    <dgm:pt modelId="{042F3C84-D29E-4754-A2A2-CAABC2E007FA}" type="pres">
      <dgm:prSet presAssocID="{22C4F185-0247-4E36-B652-3ACDF3E33B91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9B5B1E5F-ED5E-46C4-8E6E-27BD04345007}" type="presOf" srcId="{DC84D348-D782-405E-8635-66E358814E98}" destId="{021FF9FC-F939-4F61-8184-3F937364EC60}" srcOrd="0" destOrd="0" presId="urn:microsoft.com/office/officeart/2005/8/layout/hChevron3"/>
    <dgm:cxn modelId="{42011A44-F99A-41D1-8354-76BCF1DC9EC1}" srcId="{ADD43A32-4CC5-4939-B9FB-2E60F8344AB1}" destId="{DC84D348-D782-405E-8635-66E358814E98}" srcOrd="0" destOrd="0" parTransId="{95EFA135-79FA-4C88-A815-403BB4A42E25}" sibTransId="{5FBEC734-8911-4E72-8103-2C10E07A1039}"/>
    <dgm:cxn modelId="{8923BC77-5B04-433B-8210-B0506308AB4B}" type="presOf" srcId="{F1ADB8C6-EF22-4847-8868-6A86A4F5EAFB}" destId="{93403D49-2E73-459B-B950-F7FCDAC184C3}" srcOrd="0" destOrd="0" presId="urn:microsoft.com/office/officeart/2005/8/layout/hChevron3"/>
    <dgm:cxn modelId="{D408E757-EECB-4CF2-B2AE-77352D2D1CB2}" type="presOf" srcId="{2DF0C6CC-A0CE-4F0B-B255-CE3C059AE78C}" destId="{82D8670D-F254-434D-A1AF-37B3912F21B7}" srcOrd="0" destOrd="0" presId="urn:microsoft.com/office/officeart/2005/8/layout/hChevron3"/>
    <dgm:cxn modelId="{944BDA7A-D101-4700-A91B-0A8F9FE938E2}" type="presOf" srcId="{22C4F185-0247-4E36-B652-3ACDF3E33B91}" destId="{042F3C84-D29E-4754-A2A2-CAABC2E007FA}" srcOrd="0" destOrd="0" presId="urn:microsoft.com/office/officeart/2005/8/layout/hChevron3"/>
    <dgm:cxn modelId="{52C5497B-ED3F-48B4-8013-7FFAA317D922}" type="presOf" srcId="{517F925A-21A4-46C6-8E39-C9AF5D760051}" destId="{0E4C4E35-9901-43DA-893E-812F21174117}" srcOrd="0" destOrd="0" presId="urn:microsoft.com/office/officeart/2005/8/layout/hChevron3"/>
    <dgm:cxn modelId="{2EA01F7D-2F21-4B21-B6DE-B8A649130DBF}" srcId="{ADD43A32-4CC5-4939-B9FB-2E60F8344AB1}" destId="{22C4F185-0247-4E36-B652-3ACDF3E33B91}" srcOrd="4" destOrd="0" parTransId="{362618B9-E2C9-491B-A793-465C2D66042C}" sibTransId="{37B2AE41-13B6-46D2-BB84-B588ACD3995D}"/>
    <dgm:cxn modelId="{CE13ADA1-8589-4809-A474-372348934253}" type="presOf" srcId="{ADD43A32-4CC5-4939-B9FB-2E60F8344AB1}" destId="{95EDD9AF-EEE9-4AF5-91B5-AA09CFE92BF6}" srcOrd="0" destOrd="0" presId="urn:microsoft.com/office/officeart/2005/8/layout/hChevron3"/>
    <dgm:cxn modelId="{427B89D0-7D41-40DC-9F90-043D49DEAE33}" srcId="{ADD43A32-4CC5-4939-B9FB-2E60F8344AB1}" destId="{F1ADB8C6-EF22-4847-8868-6A86A4F5EAFB}" srcOrd="3" destOrd="0" parTransId="{7A4EB440-A6BC-44FA-A49E-7BAD22B4AAE6}" sibTransId="{FBDB3BD0-9956-4BC3-B87D-1FAD979FA08D}"/>
    <dgm:cxn modelId="{AD4C4FF2-5D69-4807-BA76-4493382141CE}" srcId="{ADD43A32-4CC5-4939-B9FB-2E60F8344AB1}" destId="{2DF0C6CC-A0CE-4F0B-B255-CE3C059AE78C}" srcOrd="2" destOrd="0" parTransId="{4928C0CA-FF81-445A-8D0B-4E350164FAC3}" sibTransId="{47D311FC-8C6B-420D-B484-012957680335}"/>
    <dgm:cxn modelId="{369EABF3-5D4C-4909-86C9-0013C1B0761E}" srcId="{ADD43A32-4CC5-4939-B9FB-2E60F8344AB1}" destId="{517F925A-21A4-46C6-8E39-C9AF5D760051}" srcOrd="1" destOrd="0" parTransId="{397DD5EE-D33C-4248-B1BD-4724F7DFAAF2}" sibTransId="{7FEDC0DC-00DA-481A-BE38-45AA902B554F}"/>
    <dgm:cxn modelId="{4A8BDB4B-99A8-4C6D-BB55-865CCE1BE131}" type="presParOf" srcId="{95EDD9AF-EEE9-4AF5-91B5-AA09CFE92BF6}" destId="{021FF9FC-F939-4F61-8184-3F937364EC60}" srcOrd="0" destOrd="0" presId="urn:microsoft.com/office/officeart/2005/8/layout/hChevron3"/>
    <dgm:cxn modelId="{5551875B-7199-4190-9DA5-30038ECD0462}" type="presParOf" srcId="{95EDD9AF-EEE9-4AF5-91B5-AA09CFE92BF6}" destId="{E08B2AF5-5D4B-46C4-9A4E-76106EF4E898}" srcOrd="1" destOrd="0" presId="urn:microsoft.com/office/officeart/2005/8/layout/hChevron3"/>
    <dgm:cxn modelId="{7210633F-57A2-4FDF-A05C-BCB925BDF952}" type="presParOf" srcId="{95EDD9AF-EEE9-4AF5-91B5-AA09CFE92BF6}" destId="{0E4C4E35-9901-43DA-893E-812F21174117}" srcOrd="2" destOrd="0" presId="urn:microsoft.com/office/officeart/2005/8/layout/hChevron3"/>
    <dgm:cxn modelId="{A05081A3-E15F-494A-B031-E2678724F903}" type="presParOf" srcId="{95EDD9AF-EEE9-4AF5-91B5-AA09CFE92BF6}" destId="{D2F095A8-ED06-4306-BB21-517D77E4B32A}" srcOrd="3" destOrd="0" presId="urn:microsoft.com/office/officeart/2005/8/layout/hChevron3"/>
    <dgm:cxn modelId="{6B4607CB-29ED-45EF-A742-07E4F5E2ABDD}" type="presParOf" srcId="{95EDD9AF-EEE9-4AF5-91B5-AA09CFE92BF6}" destId="{82D8670D-F254-434D-A1AF-37B3912F21B7}" srcOrd="4" destOrd="0" presId="urn:microsoft.com/office/officeart/2005/8/layout/hChevron3"/>
    <dgm:cxn modelId="{5F6330D7-3960-469D-914C-E1E0B85C137A}" type="presParOf" srcId="{95EDD9AF-EEE9-4AF5-91B5-AA09CFE92BF6}" destId="{47306256-4F7E-49B5-84B3-BD8B2C2154F7}" srcOrd="5" destOrd="0" presId="urn:microsoft.com/office/officeart/2005/8/layout/hChevron3"/>
    <dgm:cxn modelId="{33B89B33-1D55-47C6-B4A3-531C14E14A35}" type="presParOf" srcId="{95EDD9AF-EEE9-4AF5-91B5-AA09CFE92BF6}" destId="{93403D49-2E73-459B-B950-F7FCDAC184C3}" srcOrd="6" destOrd="0" presId="urn:microsoft.com/office/officeart/2005/8/layout/hChevron3"/>
    <dgm:cxn modelId="{DD2168B4-A684-4AFA-A5A5-D69402D9B7FA}" type="presParOf" srcId="{95EDD9AF-EEE9-4AF5-91B5-AA09CFE92BF6}" destId="{06C5E877-B198-4FEF-9445-5B1F637C692B}" srcOrd="7" destOrd="0" presId="urn:microsoft.com/office/officeart/2005/8/layout/hChevron3"/>
    <dgm:cxn modelId="{E9B93548-75E2-4A64-8030-FB6DC0F690BB}" type="presParOf" srcId="{95EDD9AF-EEE9-4AF5-91B5-AA09CFE92BF6}" destId="{042F3C84-D29E-4754-A2A2-CAABC2E007FA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D0589C2-E689-4612-A65F-E60E7C9D344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63DF1A-45DF-400E-A618-CF6DC4DDC8BE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FWI has weak positive correlation with spring temperature/wind and weak negative correlation with humidity/precipitation</a:t>
          </a:r>
        </a:p>
      </dgm:t>
    </dgm:pt>
    <dgm:pt modelId="{EF6BAC4A-F3E5-4F35-BCEF-1E89078E744B}" type="parTrans" cxnId="{027E05C2-67E7-4A6F-8C0C-BE199F2A668F}">
      <dgm:prSet/>
      <dgm:spPr/>
      <dgm:t>
        <a:bodyPr/>
        <a:lstStyle/>
        <a:p>
          <a:endParaRPr lang="en-US"/>
        </a:p>
      </dgm:t>
    </dgm:pt>
    <dgm:pt modelId="{6E5E8C4F-27E4-457A-AA72-F37B7A8A41A8}" type="sibTrans" cxnId="{027E05C2-67E7-4A6F-8C0C-BE199F2A668F}">
      <dgm:prSet/>
      <dgm:spPr/>
      <dgm:t>
        <a:bodyPr/>
        <a:lstStyle/>
        <a:p>
          <a:endParaRPr lang="en-US"/>
        </a:p>
      </dgm:t>
    </dgm:pt>
    <dgm:pt modelId="{1F12533D-E0E6-44D1-9CCD-EA432FBD74C5}">
      <dgm:prSet/>
      <dgm:spPr/>
      <dgm:t>
        <a:bodyPr/>
        <a:lstStyle/>
        <a:p>
          <a:r>
            <a:rPr lang="en-US" dirty="0"/>
            <a:t>ENSO has near-zero correlation with FWI in MAM.</a:t>
          </a:r>
        </a:p>
      </dgm:t>
    </dgm:pt>
    <dgm:pt modelId="{EF5DA3A2-8819-491D-BB87-D678F92A4086}" type="parTrans" cxnId="{53A75DC2-BB1E-4BBA-8A98-52F8EEC604F0}">
      <dgm:prSet/>
      <dgm:spPr/>
      <dgm:t>
        <a:bodyPr/>
        <a:lstStyle/>
        <a:p>
          <a:endParaRPr lang="en-US"/>
        </a:p>
      </dgm:t>
    </dgm:pt>
    <dgm:pt modelId="{0C8A5E78-9CF0-4031-8905-B70325D1CDC4}" type="sibTrans" cxnId="{53A75DC2-BB1E-4BBA-8A98-52F8EEC604F0}">
      <dgm:prSet/>
      <dgm:spPr/>
      <dgm:t>
        <a:bodyPr/>
        <a:lstStyle/>
        <a:p>
          <a:endParaRPr lang="en-US"/>
        </a:p>
      </dgm:t>
    </dgm:pt>
    <dgm:pt modelId="{F0F95A78-C259-46E6-9863-9A7135C6F6CC}">
      <dgm:prSet/>
      <dgm:spPr/>
      <dgm:t>
        <a:bodyPr/>
        <a:lstStyle/>
        <a:p>
          <a:r>
            <a:rPr lang="en-US" dirty="0"/>
            <a:t>Predictors are strongly inter-correlated (T vs RH)</a:t>
          </a:r>
        </a:p>
      </dgm:t>
    </dgm:pt>
    <dgm:pt modelId="{0133CE18-6AB1-4DD1-A729-B366E08EECC7}" type="parTrans" cxnId="{EB4B1F46-F481-4BDE-AB46-1B99FDEFEBAE}">
      <dgm:prSet/>
      <dgm:spPr/>
      <dgm:t>
        <a:bodyPr/>
        <a:lstStyle/>
        <a:p>
          <a:endParaRPr lang="en-US"/>
        </a:p>
      </dgm:t>
    </dgm:pt>
    <dgm:pt modelId="{97F994AF-48A8-4ABE-A419-AC670585E702}" type="sibTrans" cxnId="{EB4B1F46-F481-4BDE-AB46-1B99FDEFEBAE}">
      <dgm:prSet/>
      <dgm:spPr/>
      <dgm:t>
        <a:bodyPr/>
        <a:lstStyle/>
        <a:p>
          <a:endParaRPr lang="en-US"/>
        </a:p>
      </dgm:t>
    </dgm:pt>
    <dgm:pt modelId="{1016678A-41EC-4A35-8F5F-6A394842E9A5}" type="pres">
      <dgm:prSet presAssocID="{ED0589C2-E689-4612-A65F-E60E7C9D3446}" presName="vert0" presStyleCnt="0">
        <dgm:presLayoutVars>
          <dgm:dir/>
          <dgm:animOne val="branch"/>
          <dgm:animLvl val="lvl"/>
        </dgm:presLayoutVars>
      </dgm:prSet>
      <dgm:spPr/>
    </dgm:pt>
    <dgm:pt modelId="{55127F54-E591-4760-8000-1069BEA829B4}" type="pres">
      <dgm:prSet presAssocID="{AB63DF1A-45DF-400E-A618-CF6DC4DDC8BE}" presName="thickLine" presStyleLbl="alignNode1" presStyleIdx="0" presStyleCnt="3"/>
      <dgm:spPr/>
    </dgm:pt>
    <dgm:pt modelId="{29762045-0DBC-4990-BFC4-C093F962B3BB}" type="pres">
      <dgm:prSet presAssocID="{AB63DF1A-45DF-400E-A618-CF6DC4DDC8BE}" presName="horz1" presStyleCnt="0"/>
      <dgm:spPr/>
    </dgm:pt>
    <dgm:pt modelId="{7C858B22-8414-472A-A350-AF773790C1F1}" type="pres">
      <dgm:prSet presAssocID="{AB63DF1A-45DF-400E-A618-CF6DC4DDC8BE}" presName="tx1" presStyleLbl="revTx" presStyleIdx="0" presStyleCnt="3" custScaleY="139680"/>
      <dgm:spPr/>
    </dgm:pt>
    <dgm:pt modelId="{A8429220-33E4-4DA3-A86B-B6C09E840A62}" type="pres">
      <dgm:prSet presAssocID="{AB63DF1A-45DF-400E-A618-CF6DC4DDC8BE}" presName="vert1" presStyleCnt="0"/>
      <dgm:spPr/>
    </dgm:pt>
    <dgm:pt modelId="{62ECA17C-27CC-44D8-99C4-6F6595D49D56}" type="pres">
      <dgm:prSet presAssocID="{1F12533D-E0E6-44D1-9CCD-EA432FBD74C5}" presName="thickLine" presStyleLbl="alignNode1" presStyleIdx="1" presStyleCnt="3"/>
      <dgm:spPr/>
    </dgm:pt>
    <dgm:pt modelId="{CFB9CCA4-A5D5-49D1-96D8-298D9D165BC3}" type="pres">
      <dgm:prSet presAssocID="{1F12533D-E0E6-44D1-9CCD-EA432FBD74C5}" presName="horz1" presStyleCnt="0"/>
      <dgm:spPr/>
    </dgm:pt>
    <dgm:pt modelId="{FB037A4C-0382-4645-AED5-7459C4D437DA}" type="pres">
      <dgm:prSet presAssocID="{1F12533D-E0E6-44D1-9CCD-EA432FBD74C5}" presName="tx1" presStyleLbl="revTx" presStyleIdx="1" presStyleCnt="3"/>
      <dgm:spPr/>
    </dgm:pt>
    <dgm:pt modelId="{9CD5EFB5-1741-4CE4-8726-30FDCA7B7BAC}" type="pres">
      <dgm:prSet presAssocID="{1F12533D-E0E6-44D1-9CCD-EA432FBD74C5}" presName="vert1" presStyleCnt="0"/>
      <dgm:spPr/>
    </dgm:pt>
    <dgm:pt modelId="{B20D0C2A-D852-4836-8022-FA1D07FA6589}" type="pres">
      <dgm:prSet presAssocID="{F0F95A78-C259-46E6-9863-9A7135C6F6CC}" presName="thickLine" presStyleLbl="alignNode1" presStyleIdx="2" presStyleCnt="3"/>
      <dgm:spPr/>
    </dgm:pt>
    <dgm:pt modelId="{92AF9FE5-3173-4226-8C57-BC7BC6012C05}" type="pres">
      <dgm:prSet presAssocID="{F0F95A78-C259-46E6-9863-9A7135C6F6CC}" presName="horz1" presStyleCnt="0"/>
      <dgm:spPr/>
    </dgm:pt>
    <dgm:pt modelId="{44E41D22-1134-4BF1-9061-6B798A1769A0}" type="pres">
      <dgm:prSet presAssocID="{F0F95A78-C259-46E6-9863-9A7135C6F6CC}" presName="tx1" presStyleLbl="revTx" presStyleIdx="2" presStyleCnt="3"/>
      <dgm:spPr/>
    </dgm:pt>
    <dgm:pt modelId="{F11AF95B-D511-4D9E-9B3D-53420CDA245C}" type="pres">
      <dgm:prSet presAssocID="{F0F95A78-C259-46E6-9863-9A7135C6F6CC}" presName="vert1" presStyleCnt="0"/>
      <dgm:spPr/>
    </dgm:pt>
  </dgm:ptLst>
  <dgm:cxnLst>
    <dgm:cxn modelId="{8720DC42-2897-4EE1-AC49-5D893B1A721E}" type="presOf" srcId="{1F12533D-E0E6-44D1-9CCD-EA432FBD74C5}" destId="{FB037A4C-0382-4645-AED5-7459C4D437DA}" srcOrd="0" destOrd="0" presId="urn:microsoft.com/office/officeart/2008/layout/LinedList"/>
    <dgm:cxn modelId="{EB4B1F46-F481-4BDE-AB46-1B99FDEFEBAE}" srcId="{ED0589C2-E689-4612-A65F-E60E7C9D3446}" destId="{F0F95A78-C259-46E6-9863-9A7135C6F6CC}" srcOrd="2" destOrd="0" parTransId="{0133CE18-6AB1-4DD1-A729-B366E08EECC7}" sibTransId="{97F994AF-48A8-4ABE-A419-AC670585E702}"/>
    <dgm:cxn modelId="{C00B6A68-45B7-43AC-8EB9-36300E9EBF7B}" type="presOf" srcId="{ED0589C2-E689-4612-A65F-E60E7C9D3446}" destId="{1016678A-41EC-4A35-8F5F-6A394842E9A5}" srcOrd="0" destOrd="0" presId="urn:microsoft.com/office/officeart/2008/layout/LinedList"/>
    <dgm:cxn modelId="{E96E2E78-98C5-4F69-AA9D-CFA7038BF879}" type="presOf" srcId="{F0F95A78-C259-46E6-9863-9A7135C6F6CC}" destId="{44E41D22-1134-4BF1-9061-6B798A1769A0}" srcOrd="0" destOrd="0" presId="urn:microsoft.com/office/officeart/2008/layout/LinedList"/>
    <dgm:cxn modelId="{27D69B87-9F29-4414-9CB3-8AA79481B68E}" type="presOf" srcId="{AB63DF1A-45DF-400E-A618-CF6DC4DDC8BE}" destId="{7C858B22-8414-472A-A350-AF773790C1F1}" srcOrd="0" destOrd="0" presId="urn:microsoft.com/office/officeart/2008/layout/LinedList"/>
    <dgm:cxn modelId="{027E05C2-67E7-4A6F-8C0C-BE199F2A668F}" srcId="{ED0589C2-E689-4612-A65F-E60E7C9D3446}" destId="{AB63DF1A-45DF-400E-A618-CF6DC4DDC8BE}" srcOrd="0" destOrd="0" parTransId="{EF6BAC4A-F3E5-4F35-BCEF-1E89078E744B}" sibTransId="{6E5E8C4F-27E4-457A-AA72-F37B7A8A41A8}"/>
    <dgm:cxn modelId="{53A75DC2-BB1E-4BBA-8A98-52F8EEC604F0}" srcId="{ED0589C2-E689-4612-A65F-E60E7C9D3446}" destId="{1F12533D-E0E6-44D1-9CCD-EA432FBD74C5}" srcOrd="1" destOrd="0" parTransId="{EF5DA3A2-8819-491D-BB87-D678F92A4086}" sibTransId="{0C8A5E78-9CF0-4031-8905-B70325D1CDC4}"/>
    <dgm:cxn modelId="{837F1104-E597-44C1-937F-CD14CD24964A}" type="presParOf" srcId="{1016678A-41EC-4A35-8F5F-6A394842E9A5}" destId="{55127F54-E591-4760-8000-1069BEA829B4}" srcOrd="0" destOrd="0" presId="urn:microsoft.com/office/officeart/2008/layout/LinedList"/>
    <dgm:cxn modelId="{B6F75B52-8138-4761-938F-AE12768EF9C1}" type="presParOf" srcId="{1016678A-41EC-4A35-8F5F-6A394842E9A5}" destId="{29762045-0DBC-4990-BFC4-C093F962B3BB}" srcOrd="1" destOrd="0" presId="urn:microsoft.com/office/officeart/2008/layout/LinedList"/>
    <dgm:cxn modelId="{4B3C9856-98C2-456A-A2CF-802BA964DB86}" type="presParOf" srcId="{29762045-0DBC-4990-BFC4-C093F962B3BB}" destId="{7C858B22-8414-472A-A350-AF773790C1F1}" srcOrd="0" destOrd="0" presId="urn:microsoft.com/office/officeart/2008/layout/LinedList"/>
    <dgm:cxn modelId="{48EF6127-0606-4BCF-90F5-5CCDC0C67850}" type="presParOf" srcId="{29762045-0DBC-4990-BFC4-C093F962B3BB}" destId="{A8429220-33E4-4DA3-A86B-B6C09E840A62}" srcOrd="1" destOrd="0" presId="urn:microsoft.com/office/officeart/2008/layout/LinedList"/>
    <dgm:cxn modelId="{46F20ED6-061C-4227-BD45-0ECFD5786706}" type="presParOf" srcId="{1016678A-41EC-4A35-8F5F-6A394842E9A5}" destId="{62ECA17C-27CC-44D8-99C4-6F6595D49D56}" srcOrd="2" destOrd="0" presId="urn:microsoft.com/office/officeart/2008/layout/LinedList"/>
    <dgm:cxn modelId="{E1DE163A-232C-4219-AB03-22DC4E0B81C4}" type="presParOf" srcId="{1016678A-41EC-4A35-8F5F-6A394842E9A5}" destId="{CFB9CCA4-A5D5-49D1-96D8-298D9D165BC3}" srcOrd="3" destOrd="0" presId="urn:microsoft.com/office/officeart/2008/layout/LinedList"/>
    <dgm:cxn modelId="{DCA944BE-F527-427A-8A44-6A445E97ACE9}" type="presParOf" srcId="{CFB9CCA4-A5D5-49D1-96D8-298D9D165BC3}" destId="{FB037A4C-0382-4645-AED5-7459C4D437DA}" srcOrd="0" destOrd="0" presId="urn:microsoft.com/office/officeart/2008/layout/LinedList"/>
    <dgm:cxn modelId="{712BDDD4-D53E-4843-BF59-9BB23E048B28}" type="presParOf" srcId="{CFB9CCA4-A5D5-49D1-96D8-298D9D165BC3}" destId="{9CD5EFB5-1741-4CE4-8726-30FDCA7B7BAC}" srcOrd="1" destOrd="0" presId="urn:microsoft.com/office/officeart/2008/layout/LinedList"/>
    <dgm:cxn modelId="{6A84D182-CC10-41A1-9F45-951137FCB55C}" type="presParOf" srcId="{1016678A-41EC-4A35-8F5F-6A394842E9A5}" destId="{B20D0C2A-D852-4836-8022-FA1D07FA6589}" srcOrd="4" destOrd="0" presId="urn:microsoft.com/office/officeart/2008/layout/LinedList"/>
    <dgm:cxn modelId="{C89C6A60-B8E5-4FED-B05D-ED1438FF3748}" type="presParOf" srcId="{1016678A-41EC-4A35-8F5F-6A394842E9A5}" destId="{92AF9FE5-3173-4226-8C57-BC7BC6012C05}" srcOrd="5" destOrd="0" presId="urn:microsoft.com/office/officeart/2008/layout/LinedList"/>
    <dgm:cxn modelId="{FE037314-460E-4CDA-807F-375DC4712737}" type="presParOf" srcId="{92AF9FE5-3173-4226-8C57-BC7BC6012C05}" destId="{44E41D22-1134-4BF1-9061-6B798A1769A0}" srcOrd="0" destOrd="0" presId="urn:microsoft.com/office/officeart/2008/layout/LinedList"/>
    <dgm:cxn modelId="{2F2C93A4-D244-4511-8A65-E1CE79A4EB7E}" type="presParOf" srcId="{92AF9FE5-3173-4226-8C57-BC7BC6012C05}" destId="{F11AF95B-D511-4D9E-9B3D-53420CDA245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8AAC7B7-0FEA-4878-BE09-468F37F85188}" type="doc">
      <dgm:prSet loTypeId="urn:microsoft.com/office/officeart/2005/8/layout/target3" loCatId="relationship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408F05-B58F-46F9-BF8E-5C1F22B9ED2A}">
      <dgm:prSet/>
      <dgm:spPr>
        <a:ln>
          <a:solidFill>
            <a:schemeClr val="bg1"/>
          </a:solidFill>
        </a:ln>
      </dgm:spPr>
      <dgm:t>
        <a:bodyPr/>
        <a:lstStyle/>
        <a:p>
          <a:pPr algn="l"/>
          <a:r>
            <a:rPr lang="en-US" dirty="0"/>
            <a:t>1. Seasonal FWI in Manitoba is </a:t>
          </a:r>
          <a:r>
            <a:rPr lang="en-US" b="1" dirty="0"/>
            <a:t>highly variable </a:t>
          </a:r>
          <a:r>
            <a:rPr lang="en-US" dirty="0"/>
            <a:t>long-term trends are weak at   the provincial scale.</a:t>
          </a:r>
        </a:p>
      </dgm:t>
    </dgm:pt>
    <dgm:pt modelId="{4F7AE412-E8C5-406B-9851-8159E7E49023}" type="parTrans" cxnId="{72E84B15-7828-47D6-98E0-F20A0001B7F7}">
      <dgm:prSet/>
      <dgm:spPr/>
      <dgm:t>
        <a:bodyPr/>
        <a:lstStyle/>
        <a:p>
          <a:endParaRPr lang="en-US"/>
        </a:p>
      </dgm:t>
    </dgm:pt>
    <dgm:pt modelId="{B47F08CE-88B7-41A9-9471-4DE4270693FB}" type="sibTrans" cxnId="{72E84B15-7828-47D6-98E0-F20A0001B7F7}">
      <dgm:prSet/>
      <dgm:spPr/>
      <dgm:t>
        <a:bodyPr/>
        <a:lstStyle/>
        <a:p>
          <a:endParaRPr lang="en-US"/>
        </a:p>
      </dgm:t>
    </dgm:pt>
    <dgm:pt modelId="{9ADD31D3-F32A-4E2C-B323-2B0DB2E7CDC8}">
      <dgm:prSet/>
      <dgm:spPr>
        <a:ln>
          <a:solidFill>
            <a:srgbClr val="FFFFFF"/>
          </a:solidFill>
        </a:ln>
      </dgm:spPr>
      <dgm:t>
        <a:bodyPr/>
        <a:lstStyle/>
        <a:p>
          <a:pPr algn="l"/>
          <a:r>
            <a:rPr lang="en-US" dirty="0"/>
            <a:t>2. Spring FWI is slightly higher in warmer, drier, windier springs, but </a:t>
          </a:r>
          <a:r>
            <a:rPr lang="en-US" b="1" dirty="0"/>
            <a:t>correlations</a:t>
          </a:r>
          <a:r>
            <a:rPr lang="en-US" dirty="0"/>
            <a:t> with individual variables are </a:t>
          </a:r>
          <a:r>
            <a:rPr lang="en-US" b="1" dirty="0"/>
            <a:t>modest</a:t>
          </a:r>
          <a:r>
            <a:rPr lang="en-US" dirty="0"/>
            <a:t>. </a:t>
          </a:r>
        </a:p>
      </dgm:t>
    </dgm:pt>
    <dgm:pt modelId="{5800D260-F461-402C-AB21-271B505B15ED}" type="parTrans" cxnId="{6708502F-D0C2-48D8-9FDA-31159AA4DD42}">
      <dgm:prSet/>
      <dgm:spPr/>
      <dgm:t>
        <a:bodyPr/>
        <a:lstStyle/>
        <a:p>
          <a:endParaRPr lang="en-US"/>
        </a:p>
      </dgm:t>
    </dgm:pt>
    <dgm:pt modelId="{3261B780-BD5C-4542-80F4-38DA380CCA1F}" type="sibTrans" cxnId="{6708502F-D0C2-48D8-9FDA-31159AA4DD42}">
      <dgm:prSet/>
      <dgm:spPr/>
      <dgm:t>
        <a:bodyPr/>
        <a:lstStyle/>
        <a:p>
          <a:endParaRPr lang="en-US"/>
        </a:p>
      </dgm:t>
    </dgm:pt>
    <dgm:pt modelId="{222F0EDE-8B12-4DC0-8424-4B9EF6F92D4A}">
      <dgm:prSet/>
      <dgm:spPr>
        <a:ln>
          <a:solidFill>
            <a:srgbClr val="FFFFFF"/>
          </a:solidFill>
        </a:ln>
      </dgm:spPr>
      <dgm:t>
        <a:bodyPr/>
        <a:lstStyle/>
        <a:p>
          <a:pPr algn="l"/>
          <a:r>
            <a:rPr lang="en-US" dirty="0"/>
            <a:t>3. Because high-FWI days are </a:t>
          </a:r>
          <a:r>
            <a:rPr lang="en-US" b="0" dirty="0"/>
            <a:t>rare</a:t>
          </a:r>
          <a:r>
            <a:rPr lang="en-US" dirty="0"/>
            <a:t>, </a:t>
          </a:r>
          <a:r>
            <a:rPr lang="en-US" b="1" dirty="0"/>
            <a:t>tree models </a:t>
          </a:r>
          <a:r>
            <a:rPr lang="en-US" dirty="0"/>
            <a:t>look good on accuracy but </a:t>
          </a:r>
          <a:r>
            <a:rPr lang="en-US" b="1" dirty="0"/>
            <a:t>hardly ever predict </a:t>
          </a:r>
          <a:r>
            <a:rPr lang="en-US" dirty="0"/>
            <a:t>the high class. </a:t>
          </a:r>
        </a:p>
      </dgm:t>
    </dgm:pt>
    <dgm:pt modelId="{0E387858-7AA8-4AD2-905A-DD5B9F0E4D94}" type="parTrans" cxnId="{70CAF6A9-ED3E-431D-8E11-4B72C8E87F71}">
      <dgm:prSet/>
      <dgm:spPr/>
      <dgm:t>
        <a:bodyPr/>
        <a:lstStyle/>
        <a:p>
          <a:endParaRPr lang="en-US"/>
        </a:p>
      </dgm:t>
    </dgm:pt>
    <dgm:pt modelId="{03D416FF-D863-4270-82AC-1234C28527FE}" type="sibTrans" cxnId="{70CAF6A9-ED3E-431D-8E11-4B72C8E87F71}">
      <dgm:prSet/>
      <dgm:spPr/>
      <dgm:t>
        <a:bodyPr/>
        <a:lstStyle/>
        <a:p>
          <a:endParaRPr lang="en-US"/>
        </a:p>
      </dgm:t>
    </dgm:pt>
    <dgm:pt modelId="{3AC4292F-8A71-46CC-A1AD-B3C8293E2BE8}">
      <dgm:prSet/>
      <dgm:spPr>
        <a:ln>
          <a:solidFill>
            <a:srgbClr val="FFFFFF"/>
          </a:solidFill>
        </a:ln>
      </dgm:spPr>
      <dgm:t>
        <a:bodyPr/>
        <a:lstStyle/>
        <a:p>
          <a:pPr algn="l"/>
          <a:r>
            <a:rPr lang="en-US" b="0" dirty="0"/>
            <a:t>4. </a:t>
          </a:r>
          <a:r>
            <a:rPr lang="en-US" b="1" dirty="0"/>
            <a:t>Logistic regression </a:t>
          </a:r>
          <a:r>
            <a:rPr lang="en-US" dirty="0"/>
            <a:t>gives the </a:t>
          </a:r>
          <a:r>
            <a:rPr lang="en-US" b="1" dirty="0"/>
            <a:t>best balance </a:t>
          </a:r>
          <a:r>
            <a:rPr lang="en-US" dirty="0"/>
            <a:t>for high-FWI detection</a:t>
          </a:r>
        </a:p>
      </dgm:t>
    </dgm:pt>
    <dgm:pt modelId="{3A16EACD-F968-4EE0-BDF9-07E6D7EF5593}" type="parTrans" cxnId="{777C5081-447E-4F59-8908-57D2EA25C60C}">
      <dgm:prSet/>
      <dgm:spPr/>
      <dgm:t>
        <a:bodyPr/>
        <a:lstStyle/>
        <a:p>
          <a:endParaRPr lang="en-US"/>
        </a:p>
      </dgm:t>
    </dgm:pt>
    <dgm:pt modelId="{ED2C0038-082B-45F8-BB12-BADEC4B98E09}" type="sibTrans" cxnId="{777C5081-447E-4F59-8908-57D2EA25C60C}">
      <dgm:prSet/>
      <dgm:spPr/>
      <dgm:t>
        <a:bodyPr/>
        <a:lstStyle/>
        <a:p>
          <a:endParaRPr lang="en-US"/>
        </a:p>
      </dgm:t>
    </dgm:pt>
    <dgm:pt modelId="{FB138D1B-A97F-451F-94C5-6E8DD15AAC40}">
      <dgm:prSet/>
      <dgm:spPr>
        <a:ln>
          <a:solidFill>
            <a:srgbClr val="FFFFFF"/>
          </a:solidFill>
        </a:ln>
      </dgm:spPr>
      <dgm:t>
        <a:bodyPr/>
        <a:lstStyle/>
        <a:p>
          <a:pPr algn="l"/>
          <a:r>
            <a:rPr lang="en-US" dirty="0"/>
            <a:t>5.Adding </a:t>
          </a:r>
          <a:r>
            <a:rPr lang="en-US" b="1" dirty="0"/>
            <a:t>ENSO</a:t>
          </a:r>
          <a:r>
            <a:rPr lang="en-US" dirty="0"/>
            <a:t> only </a:t>
          </a:r>
          <a:r>
            <a:rPr lang="en-US" b="1" dirty="0"/>
            <a:t>slightly changes </a:t>
          </a:r>
          <a:r>
            <a:rPr lang="en-US" dirty="0"/>
            <a:t>model performance</a:t>
          </a:r>
        </a:p>
      </dgm:t>
    </dgm:pt>
    <dgm:pt modelId="{79470FCD-1E7F-41B7-A858-19932BADF9CB}" type="parTrans" cxnId="{AEB0C421-C617-41F0-B927-1DC5E1426E10}">
      <dgm:prSet/>
      <dgm:spPr/>
      <dgm:t>
        <a:bodyPr/>
        <a:lstStyle/>
        <a:p>
          <a:endParaRPr lang="en-US"/>
        </a:p>
      </dgm:t>
    </dgm:pt>
    <dgm:pt modelId="{2355D472-EDAD-4CDA-8D14-ABCA9E476078}" type="sibTrans" cxnId="{AEB0C421-C617-41F0-B927-1DC5E1426E10}">
      <dgm:prSet/>
      <dgm:spPr/>
      <dgm:t>
        <a:bodyPr/>
        <a:lstStyle/>
        <a:p>
          <a:endParaRPr lang="en-US"/>
        </a:p>
      </dgm:t>
    </dgm:pt>
    <dgm:pt modelId="{08F84DDC-6D69-408F-B909-AF0B2FA40EFD}" type="pres">
      <dgm:prSet presAssocID="{F8AAC7B7-0FEA-4878-BE09-468F37F85188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F192036F-6393-42D5-ABDE-63A25AC579D0}" type="pres">
      <dgm:prSet presAssocID="{12408F05-B58F-46F9-BF8E-5C1F22B9ED2A}" presName="circle1" presStyleLbl="node1" presStyleIdx="0" presStyleCnt="5"/>
      <dgm:spPr>
        <a:solidFill>
          <a:srgbClr val="012F6B"/>
        </a:solidFill>
      </dgm:spPr>
    </dgm:pt>
    <dgm:pt modelId="{5F9A6B9B-2CB6-40E9-93D2-D70F2EF288E3}" type="pres">
      <dgm:prSet presAssocID="{12408F05-B58F-46F9-BF8E-5C1F22B9ED2A}" presName="space" presStyleCnt="0"/>
      <dgm:spPr/>
    </dgm:pt>
    <dgm:pt modelId="{33B1F21D-615C-4E59-B217-260D3BEA89E7}" type="pres">
      <dgm:prSet presAssocID="{12408F05-B58F-46F9-BF8E-5C1F22B9ED2A}" presName="rect1" presStyleLbl="alignAcc1" presStyleIdx="0" presStyleCnt="5" custLinFactNeighborX="302"/>
      <dgm:spPr/>
    </dgm:pt>
    <dgm:pt modelId="{F2BE2479-A79A-45FD-9674-7382AF2537A7}" type="pres">
      <dgm:prSet presAssocID="{9ADD31D3-F32A-4E2C-B323-2B0DB2E7CDC8}" presName="vertSpace2" presStyleLbl="node1" presStyleIdx="0" presStyleCnt="5"/>
      <dgm:spPr/>
    </dgm:pt>
    <dgm:pt modelId="{F2D9CEF0-1297-4323-8A2B-A28F65AE2518}" type="pres">
      <dgm:prSet presAssocID="{9ADD31D3-F32A-4E2C-B323-2B0DB2E7CDC8}" presName="circle2" presStyleLbl="node1" presStyleIdx="1" presStyleCnt="5"/>
      <dgm:spPr>
        <a:solidFill>
          <a:srgbClr val="00A2E0"/>
        </a:solidFill>
      </dgm:spPr>
    </dgm:pt>
    <dgm:pt modelId="{624708D3-2EF9-4F35-B17E-1C6928062233}" type="pres">
      <dgm:prSet presAssocID="{9ADD31D3-F32A-4E2C-B323-2B0DB2E7CDC8}" presName="rect2" presStyleLbl="alignAcc1" presStyleIdx="1" presStyleCnt="5"/>
      <dgm:spPr/>
    </dgm:pt>
    <dgm:pt modelId="{B3717E7E-D754-4BAF-9D74-E5F647C87196}" type="pres">
      <dgm:prSet presAssocID="{222F0EDE-8B12-4DC0-8424-4B9EF6F92D4A}" presName="vertSpace3" presStyleLbl="node1" presStyleIdx="1" presStyleCnt="5"/>
      <dgm:spPr/>
    </dgm:pt>
    <dgm:pt modelId="{C4C89106-C563-4C15-A05F-08D534DBDC3B}" type="pres">
      <dgm:prSet presAssocID="{222F0EDE-8B12-4DC0-8424-4B9EF6F92D4A}" presName="circle3" presStyleLbl="node1" presStyleIdx="2" presStyleCnt="5"/>
      <dgm:spPr>
        <a:solidFill>
          <a:srgbClr val="FFFFFF"/>
        </a:solidFill>
      </dgm:spPr>
    </dgm:pt>
    <dgm:pt modelId="{BCE8F05C-3A6D-411A-A4F2-53FD2995023E}" type="pres">
      <dgm:prSet presAssocID="{222F0EDE-8B12-4DC0-8424-4B9EF6F92D4A}" presName="rect3" presStyleLbl="alignAcc1" presStyleIdx="2" presStyleCnt="5"/>
      <dgm:spPr/>
    </dgm:pt>
    <dgm:pt modelId="{FAC04C98-F1E6-4372-8449-CB4A30FDBFB8}" type="pres">
      <dgm:prSet presAssocID="{3AC4292F-8A71-46CC-A1AD-B3C8293E2BE8}" presName="vertSpace4" presStyleLbl="node1" presStyleIdx="2" presStyleCnt="5"/>
      <dgm:spPr/>
    </dgm:pt>
    <dgm:pt modelId="{A2EBE748-A76F-4248-A9A4-B80CE0FE31FB}" type="pres">
      <dgm:prSet presAssocID="{3AC4292F-8A71-46CC-A1AD-B3C8293E2BE8}" presName="circle4" presStyleLbl="node1" presStyleIdx="3" presStyleCnt="5"/>
      <dgm:spPr>
        <a:solidFill>
          <a:srgbClr val="3E1707"/>
        </a:solidFill>
      </dgm:spPr>
    </dgm:pt>
    <dgm:pt modelId="{1B0B7336-C5E5-4392-9776-BC298A46D11D}" type="pres">
      <dgm:prSet presAssocID="{3AC4292F-8A71-46CC-A1AD-B3C8293E2BE8}" presName="rect4" presStyleLbl="alignAcc1" presStyleIdx="3" presStyleCnt="5" custScaleY="90843"/>
      <dgm:spPr/>
    </dgm:pt>
    <dgm:pt modelId="{8C1E9BE0-7BBC-4091-9B6C-E8B88753732E}" type="pres">
      <dgm:prSet presAssocID="{FB138D1B-A97F-451F-94C5-6E8DD15AAC40}" presName="vertSpace5" presStyleLbl="node1" presStyleIdx="3" presStyleCnt="5"/>
      <dgm:spPr/>
    </dgm:pt>
    <dgm:pt modelId="{DF69C926-6D96-4F47-9F0E-A3E9218DF0B5}" type="pres">
      <dgm:prSet presAssocID="{FB138D1B-A97F-451F-94C5-6E8DD15AAC40}" presName="circle5" presStyleLbl="node1" presStyleIdx="4" presStyleCnt="5"/>
      <dgm:spPr>
        <a:solidFill>
          <a:srgbClr val="F2AA00"/>
        </a:solidFill>
      </dgm:spPr>
    </dgm:pt>
    <dgm:pt modelId="{7D2F60CF-4F18-4F12-BE26-288A75D8F8C1}" type="pres">
      <dgm:prSet presAssocID="{FB138D1B-A97F-451F-94C5-6E8DD15AAC40}" presName="rect5" presStyleLbl="alignAcc1" presStyleIdx="4" presStyleCnt="5"/>
      <dgm:spPr/>
    </dgm:pt>
    <dgm:pt modelId="{0A0FDF17-4A28-4100-958A-380FE13BD663}" type="pres">
      <dgm:prSet presAssocID="{12408F05-B58F-46F9-BF8E-5C1F22B9ED2A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C7CFA0A0-EB32-409F-870A-0C35B653B2EE}" type="pres">
      <dgm:prSet presAssocID="{9ADD31D3-F32A-4E2C-B323-2B0DB2E7CDC8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FF1B559C-37F5-43EC-B9AF-4EC5EAF0695A}" type="pres">
      <dgm:prSet presAssocID="{222F0EDE-8B12-4DC0-8424-4B9EF6F92D4A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76FBBD04-9BD3-40E3-B23F-DDFB3D059551}" type="pres">
      <dgm:prSet presAssocID="{3AC4292F-8A71-46CC-A1AD-B3C8293E2BE8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4C582C4B-A1B6-47E0-AB40-86F61C878426}" type="pres">
      <dgm:prSet presAssocID="{FB138D1B-A97F-451F-94C5-6E8DD15AAC40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1A3EB510-6D72-4134-8402-457E6A3FE612}" type="presOf" srcId="{FB138D1B-A97F-451F-94C5-6E8DD15AAC40}" destId="{4C582C4B-A1B6-47E0-AB40-86F61C878426}" srcOrd="1" destOrd="0" presId="urn:microsoft.com/office/officeart/2005/8/layout/target3"/>
    <dgm:cxn modelId="{72E84B15-7828-47D6-98E0-F20A0001B7F7}" srcId="{F8AAC7B7-0FEA-4878-BE09-468F37F85188}" destId="{12408F05-B58F-46F9-BF8E-5C1F22B9ED2A}" srcOrd="0" destOrd="0" parTransId="{4F7AE412-E8C5-406B-9851-8159E7E49023}" sibTransId="{B47F08CE-88B7-41A9-9471-4DE4270693FB}"/>
    <dgm:cxn modelId="{2585071D-AF9C-4F84-9DE1-2810A9A57DCE}" type="presOf" srcId="{12408F05-B58F-46F9-BF8E-5C1F22B9ED2A}" destId="{0A0FDF17-4A28-4100-958A-380FE13BD663}" srcOrd="1" destOrd="0" presId="urn:microsoft.com/office/officeart/2005/8/layout/target3"/>
    <dgm:cxn modelId="{AEB0C421-C617-41F0-B927-1DC5E1426E10}" srcId="{F8AAC7B7-0FEA-4878-BE09-468F37F85188}" destId="{FB138D1B-A97F-451F-94C5-6E8DD15AAC40}" srcOrd="4" destOrd="0" parTransId="{79470FCD-1E7F-41B7-A858-19932BADF9CB}" sibTransId="{2355D472-EDAD-4CDA-8D14-ABCA9E476078}"/>
    <dgm:cxn modelId="{6708502F-D0C2-48D8-9FDA-31159AA4DD42}" srcId="{F8AAC7B7-0FEA-4878-BE09-468F37F85188}" destId="{9ADD31D3-F32A-4E2C-B323-2B0DB2E7CDC8}" srcOrd="1" destOrd="0" parTransId="{5800D260-F461-402C-AB21-271B505B15ED}" sibTransId="{3261B780-BD5C-4542-80F4-38DA380CCA1F}"/>
    <dgm:cxn modelId="{A463EE30-4C87-491B-9C79-7B677E24D155}" type="presOf" srcId="{222F0EDE-8B12-4DC0-8424-4B9EF6F92D4A}" destId="{FF1B559C-37F5-43EC-B9AF-4EC5EAF0695A}" srcOrd="1" destOrd="0" presId="urn:microsoft.com/office/officeart/2005/8/layout/target3"/>
    <dgm:cxn modelId="{C09C1234-5ED4-4AAB-B78A-705F578EA6AC}" type="presOf" srcId="{3AC4292F-8A71-46CC-A1AD-B3C8293E2BE8}" destId="{1B0B7336-C5E5-4392-9776-BC298A46D11D}" srcOrd="0" destOrd="0" presId="urn:microsoft.com/office/officeart/2005/8/layout/target3"/>
    <dgm:cxn modelId="{F31BC63A-0CAB-424D-9533-7B915E314F39}" type="presOf" srcId="{9ADD31D3-F32A-4E2C-B323-2B0DB2E7CDC8}" destId="{624708D3-2EF9-4F35-B17E-1C6928062233}" srcOrd="0" destOrd="0" presId="urn:microsoft.com/office/officeart/2005/8/layout/target3"/>
    <dgm:cxn modelId="{29EB245F-D607-44F3-B2DC-580ACB30BB8E}" type="presOf" srcId="{3AC4292F-8A71-46CC-A1AD-B3C8293E2BE8}" destId="{76FBBD04-9BD3-40E3-B23F-DDFB3D059551}" srcOrd="1" destOrd="0" presId="urn:microsoft.com/office/officeart/2005/8/layout/target3"/>
    <dgm:cxn modelId="{F9A74451-5018-4325-800B-FF826D7B716A}" type="presOf" srcId="{F8AAC7B7-0FEA-4878-BE09-468F37F85188}" destId="{08F84DDC-6D69-408F-B909-AF0B2FA40EFD}" srcOrd="0" destOrd="0" presId="urn:microsoft.com/office/officeart/2005/8/layout/target3"/>
    <dgm:cxn modelId="{0E26275A-3665-4ABD-A952-1F99D6415897}" type="presOf" srcId="{FB138D1B-A97F-451F-94C5-6E8DD15AAC40}" destId="{7D2F60CF-4F18-4F12-BE26-288A75D8F8C1}" srcOrd="0" destOrd="0" presId="urn:microsoft.com/office/officeart/2005/8/layout/target3"/>
    <dgm:cxn modelId="{777C5081-447E-4F59-8908-57D2EA25C60C}" srcId="{F8AAC7B7-0FEA-4878-BE09-468F37F85188}" destId="{3AC4292F-8A71-46CC-A1AD-B3C8293E2BE8}" srcOrd="3" destOrd="0" parTransId="{3A16EACD-F968-4EE0-BDF9-07E6D7EF5593}" sibTransId="{ED2C0038-082B-45F8-BB12-BADEC4B98E09}"/>
    <dgm:cxn modelId="{96CF219E-FF32-474D-9C84-1DB63C063E01}" type="presOf" srcId="{222F0EDE-8B12-4DC0-8424-4B9EF6F92D4A}" destId="{BCE8F05C-3A6D-411A-A4F2-53FD2995023E}" srcOrd="0" destOrd="0" presId="urn:microsoft.com/office/officeart/2005/8/layout/target3"/>
    <dgm:cxn modelId="{FDE682A0-EFA9-4DB0-9D0A-66ED523E0094}" type="presOf" srcId="{12408F05-B58F-46F9-BF8E-5C1F22B9ED2A}" destId="{33B1F21D-615C-4E59-B217-260D3BEA89E7}" srcOrd="0" destOrd="0" presId="urn:microsoft.com/office/officeart/2005/8/layout/target3"/>
    <dgm:cxn modelId="{56C2B1A2-E789-4EE0-A894-595109F0B9D9}" type="presOf" srcId="{9ADD31D3-F32A-4E2C-B323-2B0DB2E7CDC8}" destId="{C7CFA0A0-EB32-409F-870A-0C35B653B2EE}" srcOrd="1" destOrd="0" presId="urn:microsoft.com/office/officeart/2005/8/layout/target3"/>
    <dgm:cxn modelId="{70CAF6A9-ED3E-431D-8E11-4B72C8E87F71}" srcId="{F8AAC7B7-0FEA-4878-BE09-468F37F85188}" destId="{222F0EDE-8B12-4DC0-8424-4B9EF6F92D4A}" srcOrd="2" destOrd="0" parTransId="{0E387858-7AA8-4AD2-905A-DD5B9F0E4D94}" sibTransId="{03D416FF-D863-4270-82AC-1234C28527FE}"/>
    <dgm:cxn modelId="{1D44310D-05F6-491D-B4DF-727101DD7454}" type="presParOf" srcId="{08F84DDC-6D69-408F-B909-AF0B2FA40EFD}" destId="{F192036F-6393-42D5-ABDE-63A25AC579D0}" srcOrd="0" destOrd="0" presId="urn:microsoft.com/office/officeart/2005/8/layout/target3"/>
    <dgm:cxn modelId="{CB7E11CF-54E2-4B94-9DF7-640358F1B0A0}" type="presParOf" srcId="{08F84DDC-6D69-408F-B909-AF0B2FA40EFD}" destId="{5F9A6B9B-2CB6-40E9-93D2-D70F2EF288E3}" srcOrd="1" destOrd="0" presId="urn:microsoft.com/office/officeart/2005/8/layout/target3"/>
    <dgm:cxn modelId="{4DC1A2C4-731E-4CD5-B54F-89BC0A2FEE1D}" type="presParOf" srcId="{08F84DDC-6D69-408F-B909-AF0B2FA40EFD}" destId="{33B1F21D-615C-4E59-B217-260D3BEA89E7}" srcOrd="2" destOrd="0" presId="urn:microsoft.com/office/officeart/2005/8/layout/target3"/>
    <dgm:cxn modelId="{82B3A5B1-FDDC-4E47-B33D-8C3E9A5F80CF}" type="presParOf" srcId="{08F84DDC-6D69-408F-B909-AF0B2FA40EFD}" destId="{F2BE2479-A79A-45FD-9674-7382AF2537A7}" srcOrd="3" destOrd="0" presId="urn:microsoft.com/office/officeart/2005/8/layout/target3"/>
    <dgm:cxn modelId="{CBBFA584-9D1F-42FB-9011-2D5ED479B175}" type="presParOf" srcId="{08F84DDC-6D69-408F-B909-AF0B2FA40EFD}" destId="{F2D9CEF0-1297-4323-8A2B-A28F65AE2518}" srcOrd="4" destOrd="0" presId="urn:microsoft.com/office/officeart/2005/8/layout/target3"/>
    <dgm:cxn modelId="{5C84C1A7-EE87-41F5-9082-72D7DA7A8610}" type="presParOf" srcId="{08F84DDC-6D69-408F-B909-AF0B2FA40EFD}" destId="{624708D3-2EF9-4F35-B17E-1C6928062233}" srcOrd="5" destOrd="0" presId="urn:microsoft.com/office/officeart/2005/8/layout/target3"/>
    <dgm:cxn modelId="{35A545E8-8CC0-4F6B-B767-AA511754B363}" type="presParOf" srcId="{08F84DDC-6D69-408F-B909-AF0B2FA40EFD}" destId="{B3717E7E-D754-4BAF-9D74-E5F647C87196}" srcOrd="6" destOrd="0" presId="urn:microsoft.com/office/officeart/2005/8/layout/target3"/>
    <dgm:cxn modelId="{BEFB663A-3240-4607-827B-8731E6B6F378}" type="presParOf" srcId="{08F84DDC-6D69-408F-B909-AF0B2FA40EFD}" destId="{C4C89106-C563-4C15-A05F-08D534DBDC3B}" srcOrd="7" destOrd="0" presId="urn:microsoft.com/office/officeart/2005/8/layout/target3"/>
    <dgm:cxn modelId="{25D66B39-B221-406F-ACB7-328A5195DE0E}" type="presParOf" srcId="{08F84DDC-6D69-408F-B909-AF0B2FA40EFD}" destId="{BCE8F05C-3A6D-411A-A4F2-53FD2995023E}" srcOrd="8" destOrd="0" presId="urn:microsoft.com/office/officeart/2005/8/layout/target3"/>
    <dgm:cxn modelId="{C2031520-604A-4964-A37D-3A7419304D53}" type="presParOf" srcId="{08F84DDC-6D69-408F-B909-AF0B2FA40EFD}" destId="{FAC04C98-F1E6-4372-8449-CB4A30FDBFB8}" srcOrd="9" destOrd="0" presId="urn:microsoft.com/office/officeart/2005/8/layout/target3"/>
    <dgm:cxn modelId="{D8FCC95D-3807-4BE3-97B8-166A159B57D6}" type="presParOf" srcId="{08F84DDC-6D69-408F-B909-AF0B2FA40EFD}" destId="{A2EBE748-A76F-4248-A9A4-B80CE0FE31FB}" srcOrd="10" destOrd="0" presId="urn:microsoft.com/office/officeart/2005/8/layout/target3"/>
    <dgm:cxn modelId="{B9CF642A-0E33-4FF9-875C-22293D05036F}" type="presParOf" srcId="{08F84DDC-6D69-408F-B909-AF0B2FA40EFD}" destId="{1B0B7336-C5E5-4392-9776-BC298A46D11D}" srcOrd="11" destOrd="0" presId="urn:microsoft.com/office/officeart/2005/8/layout/target3"/>
    <dgm:cxn modelId="{4AC32277-FAC9-44F2-B718-35F693920BB5}" type="presParOf" srcId="{08F84DDC-6D69-408F-B909-AF0B2FA40EFD}" destId="{8C1E9BE0-7BBC-4091-9B6C-E8B88753732E}" srcOrd="12" destOrd="0" presId="urn:microsoft.com/office/officeart/2005/8/layout/target3"/>
    <dgm:cxn modelId="{D73953D2-3320-490B-A208-3B1D94E96C82}" type="presParOf" srcId="{08F84DDC-6D69-408F-B909-AF0B2FA40EFD}" destId="{DF69C926-6D96-4F47-9F0E-A3E9218DF0B5}" srcOrd="13" destOrd="0" presId="urn:microsoft.com/office/officeart/2005/8/layout/target3"/>
    <dgm:cxn modelId="{0E3C862E-E0DF-416E-8F54-C8F9484C9319}" type="presParOf" srcId="{08F84DDC-6D69-408F-B909-AF0B2FA40EFD}" destId="{7D2F60CF-4F18-4F12-BE26-288A75D8F8C1}" srcOrd="14" destOrd="0" presId="urn:microsoft.com/office/officeart/2005/8/layout/target3"/>
    <dgm:cxn modelId="{D4975E69-BE56-4955-AEC5-CF85ED82994F}" type="presParOf" srcId="{08F84DDC-6D69-408F-B909-AF0B2FA40EFD}" destId="{0A0FDF17-4A28-4100-958A-380FE13BD663}" srcOrd="15" destOrd="0" presId="urn:microsoft.com/office/officeart/2005/8/layout/target3"/>
    <dgm:cxn modelId="{22EC12F4-D1AD-48D5-8440-A9DD4A442F70}" type="presParOf" srcId="{08F84DDC-6D69-408F-B909-AF0B2FA40EFD}" destId="{C7CFA0A0-EB32-409F-870A-0C35B653B2EE}" srcOrd="16" destOrd="0" presId="urn:microsoft.com/office/officeart/2005/8/layout/target3"/>
    <dgm:cxn modelId="{DF489AB6-3772-445C-B6A8-F2B8C8082D44}" type="presParOf" srcId="{08F84DDC-6D69-408F-B909-AF0B2FA40EFD}" destId="{FF1B559C-37F5-43EC-B9AF-4EC5EAF0695A}" srcOrd="17" destOrd="0" presId="urn:microsoft.com/office/officeart/2005/8/layout/target3"/>
    <dgm:cxn modelId="{81723F95-71DA-469A-AD6C-24A8DB87C167}" type="presParOf" srcId="{08F84DDC-6D69-408F-B909-AF0B2FA40EFD}" destId="{76FBBD04-9BD3-40E3-B23F-DDFB3D059551}" srcOrd="18" destOrd="0" presId="urn:microsoft.com/office/officeart/2005/8/layout/target3"/>
    <dgm:cxn modelId="{0A8B7AC4-49DB-42D4-A72E-F89545F1BDFC}" type="presParOf" srcId="{08F84DDC-6D69-408F-B909-AF0B2FA40EFD}" destId="{4C582C4B-A1B6-47E0-AB40-86F61C878426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6494521-7508-47E9-8E8B-610D7B4DD398}" type="doc">
      <dgm:prSet loTypeId="urn:microsoft.com/office/officeart/2005/8/layout/architecture" loCatId="relationship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E85465BC-E591-43C8-8D43-540CDFBAFD97}">
      <dgm:prSet custT="1"/>
      <dgm:spPr>
        <a:ln w="76200">
          <a:solidFill>
            <a:srgbClr val="012F6B"/>
          </a:solidFill>
        </a:ln>
      </dgm:spPr>
      <dgm:t>
        <a:bodyPr/>
        <a:lstStyle/>
        <a:p>
          <a:r>
            <a:rPr lang="en-US" sz="2000" dirty="0"/>
            <a:t>Apply imbalance handling techniques (class weights, resampling) and improve probability calibration.</a:t>
          </a:r>
        </a:p>
      </dgm:t>
    </dgm:pt>
    <dgm:pt modelId="{C2AA3FB1-8538-4427-823F-AFF68EAFEB14}" type="parTrans" cxnId="{3FC52003-B87B-4B7E-A65F-8F763BB9C080}">
      <dgm:prSet/>
      <dgm:spPr/>
      <dgm:t>
        <a:bodyPr/>
        <a:lstStyle/>
        <a:p>
          <a:endParaRPr lang="en-US"/>
        </a:p>
      </dgm:t>
    </dgm:pt>
    <dgm:pt modelId="{27C76001-2DAE-44E6-BCD2-08864AF477CA}" type="sibTrans" cxnId="{3FC52003-B87B-4B7E-A65F-8F763BB9C080}">
      <dgm:prSet/>
      <dgm:spPr/>
      <dgm:t>
        <a:bodyPr/>
        <a:lstStyle/>
        <a:p>
          <a:endParaRPr lang="en-US"/>
        </a:p>
      </dgm:t>
    </dgm:pt>
    <dgm:pt modelId="{B9AB8DC6-066A-49FA-80FB-180F8DE19062}">
      <dgm:prSet custT="1"/>
      <dgm:spPr>
        <a:ln w="76200">
          <a:solidFill>
            <a:srgbClr val="FFCE3C"/>
          </a:solidFill>
        </a:ln>
      </dgm:spPr>
      <dgm:t>
        <a:bodyPr/>
        <a:lstStyle/>
        <a:p>
          <a:r>
            <a:rPr lang="en-US" sz="2000" dirty="0"/>
            <a:t>Explore additional predictors such as soil moisture, vegetation indices and other climate indices to increase forecast skill for dangerous fire weather seasons.</a:t>
          </a:r>
        </a:p>
      </dgm:t>
    </dgm:pt>
    <dgm:pt modelId="{C5A53376-907B-405C-BB82-BFCCAF539CF9}" type="parTrans" cxnId="{C8EED797-910E-431E-81AE-B079F3421626}">
      <dgm:prSet/>
      <dgm:spPr/>
      <dgm:t>
        <a:bodyPr/>
        <a:lstStyle/>
        <a:p>
          <a:endParaRPr lang="en-US"/>
        </a:p>
      </dgm:t>
    </dgm:pt>
    <dgm:pt modelId="{19F5DE12-99FE-4132-8607-857C54E22222}" type="sibTrans" cxnId="{C8EED797-910E-431E-81AE-B079F3421626}">
      <dgm:prSet/>
      <dgm:spPr/>
      <dgm:t>
        <a:bodyPr/>
        <a:lstStyle/>
        <a:p>
          <a:endParaRPr lang="en-US"/>
        </a:p>
      </dgm:t>
    </dgm:pt>
    <dgm:pt modelId="{7B804800-7F29-4913-8481-155C43D61FDB}">
      <dgm:prSet custT="1"/>
      <dgm:spPr>
        <a:ln w="76200">
          <a:solidFill>
            <a:srgbClr val="00A2E0"/>
          </a:solidFill>
        </a:ln>
      </dgm:spPr>
      <dgm:t>
        <a:bodyPr/>
        <a:lstStyle/>
        <a:p>
          <a:r>
            <a:rPr lang="en-US" sz="2000" dirty="0"/>
            <a:t>Calculate the accuracy per station to investigate the reason and results</a:t>
          </a:r>
        </a:p>
      </dgm:t>
    </dgm:pt>
    <dgm:pt modelId="{D186AEB0-BD98-404D-8789-3E40F371B2C6}" type="parTrans" cxnId="{C6E7116C-32C8-4E9E-B208-6C5736925FA3}">
      <dgm:prSet/>
      <dgm:spPr/>
      <dgm:t>
        <a:bodyPr/>
        <a:lstStyle/>
        <a:p>
          <a:endParaRPr lang="en-US"/>
        </a:p>
      </dgm:t>
    </dgm:pt>
    <dgm:pt modelId="{FFF0E8AE-0774-4878-8BE3-B83670906CDA}" type="sibTrans" cxnId="{C6E7116C-32C8-4E9E-B208-6C5736925FA3}">
      <dgm:prSet/>
      <dgm:spPr/>
      <dgm:t>
        <a:bodyPr/>
        <a:lstStyle/>
        <a:p>
          <a:endParaRPr lang="en-US"/>
        </a:p>
      </dgm:t>
    </dgm:pt>
    <dgm:pt modelId="{B04972AE-058B-43A5-8D41-2D86A74F7117}" type="pres">
      <dgm:prSet presAssocID="{76494521-7508-47E9-8E8B-610D7B4DD398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9FDE961-88A1-40E0-A263-AA81D9540E45}" type="pres">
      <dgm:prSet presAssocID="{E85465BC-E591-43C8-8D43-540CDFBAFD97}" presName="vertOne" presStyleCnt="0"/>
      <dgm:spPr/>
    </dgm:pt>
    <dgm:pt modelId="{5713C404-EBA7-46E0-B8B8-1BF2CBC67714}" type="pres">
      <dgm:prSet presAssocID="{E85465BC-E591-43C8-8D43-540CDFBAFD97}" presName="txOne" presStyleLbl="node0" presStyleIdx="0" presStyleCnt="3" custScaleX="334095" custScaleY="59353" custLinFactNeighborX="5912" custLinFactNeighborY="-16455">
        <dgm:presLayoutVars>
          <dgm:chPref val="3"/>
        </dgm:presLayoutVars>
      </dgm:prSet>
      <dgm:spPr/>
    </dgm:pt>
    <dgm:pt modelId="{F3BDC2AB-6D59-45BF-8FCB-8E2C29914EBC}" type="pres">
      <dgm:prSet presAssocID="{E85465BC-E591-43C8-8D43-540CDFBAFD97}" presName="horzOne" presStyleCnt="0"/>
      <dgm:spPr/>
    </dgm:pt>
    <dgm:pt modelId="{2CFF6CB8-4176-4640-BAE6-1E0CC99390A6}" type="pres">
      <dgm:prSet presAssocID="{27C76001-2DAE-44E6-BCD2-08864AF477CA}" presName="sibSpaceOne" presStyleCnt="0"/>
      <dgm:spPr/>
    </dgm:pt>
    <dgm:pt modelId="{95214120-6B12-48C3-BC20-D9BF4F5E3B10}" type="pres">
      <dgm:prSet presAssocID="{B9AB8DC6-066A-49FA-80FB-180F8DE19062}" presName="vertOne" presStyleCnt="0"/>
      <dgm:spPr/>
    </dgm:pt>
    <dgm:pt modelId="{5C62B7DE-EB56-45CE-BA3D-1F6D7FF32CBF}" type="pres">
      <dgm:prSet presAssocID="{B9AB8DC6-066A-49FA-80FB-180F8DE19062}" presName="txOne" presStyleLbl="node0" presStyleIdx="1" presStyleCnt="3" custScaleX="334095" custScaleY="59353">
        <dgm:presLayoutVars>
          <dgm:chPref val="3"/>
        </dgm:presLayoutVars>
      </dgm:prSet>
      <dgm:spPr/>
    </dgm:pt>
    <dgm:pt modelId="{0E52A1D4-0B25-4118-8BE0-EF4AC4CAEA7B}" type="pres">
      <dgm:prSet presAssocID="{B9AB8DC6-066A-49FA-80FB-180F8DE19062}" presName="horzOne" presStyleCnt="0"/>
      <dgm:spPr/>
    </dgm:pt>
    <dgm:pt modelId="{185B49CA-0BAC-4DDA-8D8B-EBDE4C8FABA7}" type="pres">
      <dgm:prSet presAssocID="{19F5DE12-99FE-4132-8607-857C54E22222}" presName="sibSpaceOne" presStyleCnt="0"/>
      <dgm:spPr/>
    </dgm:pt>
    <dgm:pt modelId="{17B78A14-035E-4CCC-9FA9-9F01BC7ED98B}" type="pres">
      <dgm:prSet presAssocID="{7B804800-7F29-4913-8481-155C43D61FDB}" presName="vertOne" presStyleCnt="0"/>
      <dgm:spPr/>
    </dgm:pt>
    <dgm:pt modelId="{EC6959B6-98CD-4A4A-8AC1-172EB49A5E5E}" type="pres">
      <dgm:prSet presAssocID="{7B804800-7F29-4913-8481-155C43D61FDB}" presName="txOne" presStyleLbl="node0" presStyleIdx="2" presStyleCnt="3" custScaleX="334095" custScaleY="59353" custLinFactNeighborX="-5751" custLinFactNeighborY="20803">
        <dgm:presLayoutVars>
          <dgm:chPref val="3"/>
        </dgm:presLayoutVars>
      </dgm:prSet>
      <dgm:spPr/>
    </dgm:pt>
    <dgm:pt modelId="{E4F256BC-F236-48DE-9AFC-84FBFA9A8727}" type="pres">
      <dgm:prSet presAssocID="{7B804800-7F29-4913-8481-155C43D61FDB}" presName="horzOne" presStyleCnt="0"/>
      <dgm:spPr/>
    </dgm:pt>
  </dgm:ptLst>
  <dgm:cxnLst>
    <dgm:cxn modelId="{3FC52003-B87B-4B7E-A65F-8F763BB9C080}" srcId="{76494521-7508-47E9-8E8B-610D7B4DD398}" destId="{E85465BC-E591-43C8-8D43-540CDFBAFD97}" srcOrd="0" destOrd="0" parTransId="{C2AA3FB1-8538-4427-823F-AFF68EAFEB14}" sibTransId="{27C76001-2DAE-44E6-BCD2-08864AF477CA}"/>
    <dgm:cxn modelId="{8EDD910A-C6E5-43BC-BBA6-A38B214F9FAC}" type="presOf" srcId="{E85465BC-E591-43C8-8D43-540CDFBAFD97}" destId="{5713C404-EBA7-46E0-B8B8-1BF2CBC67714}" srcOrd="0" destOrd="0" presId="urn:microsoft.com/office/officeart/2005/8/layout/architecture"/>
    <dgm:cxn modelId="{C6E7116C-32C8-4E9E-B208-6C5736925FA3}" srcId="{76494521-7508-47E9-8E8B-610D7B4DD398}" destId="{7B804800-7F29-4913-8481-155C43D61FDB}" srcOrd="2" destOrd="0" parTransId="{D186AEB0-BD98-404D-8789-3E40F371B2C6}" sibTransId="{FFF0E8AE-0774-4878-8BE3-B83670906CDA}"/>
    <dgm:cxn modelId="{E4F8B24C-01BE-4A81-9F24-6FA5B55F5401}" type="presOf" srcId="{B9AB8DC6-066A-49FA-80FB-180F8DE19062}" destId="{5C62B7DE-EB56-45CE-BA3D-1F6D7FF32CBF}" srcOrd="0" destOrd="0" presId="urn:microsoft.com/office/officeart/2005/8/layout/architecture"/>
    <dgm:cxn modelId="{C8EED797-910E-431E-81AE-B079F3421626}" srcId="{76494521-7508-47E9-8E8B-610D7B4DD398}" destId="{B9AB8DC6-066A-49FA-80FB-180F8DE19062}" srcOrd="1" destOrd="0" parTransId="{C5A53376-907B-405C-BB82-BFCCAF539CF9}" sibTransId="{19F5DE12-99FE-4132-8607-857C54E22222}"/>
    <dgm:cxn modelId="{DD8AD29D-BB99-445E-AA9F-634DADFD8838}" type="presOf" srcId="{7B804800-7F29-4913-8481-155C43D61FDB}" destId="{EC6959B6-98CD-4A4A-8AC1-172EB49A5E5E}" srcOrd="0" destOrd="0" presId="urn:microsoft.com/office/officeart/2005/8/layout/architecture"/>
    <dgm:cxn modelId="{FED710E5-7AB9-47D0-9DBE-2F6B31978C26}" type="presOf" srcId="{76494521-7508-47E9-8E8B-610D7B4DD398}" destId="{B04972AE-058B-43A5-8D41-2D86A74F7117}" srcOrd="0" destOrd="0" presId="urn:microsoft.com/office/officeart/2005/8/layout/architecture"/>
    <dgm:cxn modelId="{6BBA49AE-3868-40CF-AD7A-D00FE4FA3EB7}" type="presParOf" srcId="{B04972AE-058B-43A5-8D41-2D86A74F7117}" destId="{39FDE961-88A1-40E0-A263-AA81D9540E45}" srcOrd="0" destOrd="0" presId="urn:microsoft.com/office/officeart/2005/8/layout/architecture"/>
    <dgm:cxn modelId="{39E4EF12-D9BC-4FD5-B512-ED04473E4FD2}" type="presParOf" srcId="{39FDE961-88A1-40E0-A263-AA81D9540E45}" destId="{5713C404-EBA7-46E0-B8B8-1BF2CBC67714}" srcOrd="0" destOrd="0" presId="urn:microsoft.com/office/officeart/2005/8/layout/architecture"/>
    <dgm:cxn modelId="{B4276254-25EE-431D-92A1-FD5B53F4BEB4}" type="presParOf" srcId="{39FDE961-88A1-40E0-A263-AA81D9540E45}" destId="{F3BDC2AB-6D59-45BF-8FCB-8E2C29914EBC}" srcOrd="1" destOrd="0" presId="urn:microsoft.com/office/officeart/2005/8/layout/architecture"/>
    <dgm:cxn modelId="{44A398AF-D8E8-4485-85FC-7D4A9C082A37}" type="presParOf" srcId="{B04972AE-058B-43A5-8D41-2D86A74F7117}" destId="{2CFF6CB8-4176-4640-BAE6-1E0CC99390A6}" srcOrd="1" destOrd="0" presId="urn:microsoft.com/office/officeart/2005/8/layout/architecture"/>
    <dgm:cxn modelId="{B50F61AB-9298-48A5-B339-235BE567033C}" type="presParOf" srcId="{B04972AE-058B-43A5-8D41-2D86A74F7117}" destId="{95214120-6B12-48C3-BC20-D9BF4F5E3B10}" srcOrd="2" destOrd="0" presId="urn:microsoft.com/office/officeart/2005/8/layout/architecture"/>
    <dgm:cxn modelId="{05B9B890-1534-43BE-80A1-B87A8BEAD395}" type="presParOf" srcId="{95214120-6B12-48C3-BC20-D9BF4F5E3B10}" destId="{5C62B7DE-EB56-45CE-BA3D-1F6D7FF32CBF}" srcOrd="0" destOrd="0" presId="urn:microsoft.com/office/officeart/2005/8/layout/architecture"/>
    <dgm:cxn modelId="{28433EDE-8369-4C8A-BB5F-A0042544C45C}" type="presParOf" srcId="{95214120-6B12-48C3-BC20-D9BF4F5E3B10}" destId="{0E52A1D4-0B25-4118-8BE0-EF4AC4CAEA7B}" srcOrd="1" destOrd="0" presId="urn:microsoft.com/office/officeart/2005/8/layout/architecture"/>
    <dgm:cxn modelId="{7BBC26A2-5B6A-4FA9-A1B1-39A5D5C75813}" type="presParOf" srcId="{B04972AE-058B-43A5-8D41-2D86A74F7117}" destId="{185B49CA-0BAC-4DDA-8D8B-EBDE4C8FABA7}" srcOrd="3" destOrd="0" presId="urn:microsoft.com/office/officeart/2005/8/layout/architecture"/>
    <dgm:cxn modelId="{ED317ECD-DA4D-4913-83DB-0083CD823F7B}" type="presParOf" srcId="{B04972AE-058B-43A5-8D41-2D86A74F7117}" destId="{17B78A14-035E-4CCC-9FA9-9F01BC7ED98B}" srcOrd="4" destOrd="0" presId="urn:microsoft.com/office/officeart/2005/8/layout/architecture"/>
    <dgm:cxn modelId="{EC2E09A6-A2F8-4479-957F-B229148D1243}" type="presParOf" srcId="{17B78A14-035E-4CCC-9FA9-9F01BC7ED98B}" destId="{EC6959B6-98CD-4A4A-8AC1-172EB49A5E5E}" srcOrd="0" destOrd="0" presId="urn:microsoft.com/office/officeart/2005/8/layout/architecture"/>
    <dgm:cxn modelId="{E671313D-4001-4307-BE45-B36E0EFB0F15}" type="presParOf" srcId="{17B78A14-035E-4CCC-9FA9-9F01BC7ED98B}" destId="{E4F256BC-F236-48DE-9AFC-84FBFA9A8727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3C26FF-E1FB-430D-A0EA-A7A24BB9980D}">
      <dsp:nvSpPr>
        <dsp:cNvPr id="0" name=""/>
        <dsp:cNvSpPr/>
      </dsp:nvSpPr>
      <dsp:spPr>
        <a:xfrm>
          <a:off x="4910319" y="858847"/>
          <a:ext cx="660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0761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3415" y="901107"/>
        <a:ext cx="34568" cy="6920"/>
      </dsp:txXfrm>
    </dsp:sp>
    <dsp:sp modelId="{DCDAC708-D40D-4C7E-904A-9F175D4C606C}">
      <dsp:nvSpPr>
        <dsp:cNvPr id="0" name=""/>
        <dsp:cNvSpPr/>
      </dsp:nvSpPr>
      <dsp:spPr>
        <a:xfrm>
          <a:off x="1906199" y="2791"/>
          <a:ext cx="3005919" cy="1803551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147293" tIns="154609" rIns="147293" bIns="15460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Wildfire risk is increasing in many parts of Canada, including Manitoba.</a:t>
          </a:r>
        </a:p>
      </dsp:txBody>
      <dsp:txXfrm>
        <a:off x="1906199" y="2791"/>
        <a:ext cx="3005919" cy="1803551"/>
      </dsp:txXfrm>
    </dsp:sp>
    <dsp:sp modelId="{51370676-3375-4FC7-B5D2-E324394F6AF1}">
      <dsp:nvSpPr>
        <dsp:cNvPr id="0" name=""/>
        <dsp:cNvSpPr/>
      </dsp:nvSpPr>
      <dsp:spPr>
        <a:xfrm>
          <a:off x="5286326" y="1804543"/>
          <a:ext cx="1820114" cy="557472"/>
        </a:xfrm>
        <a:custGeom>
          <a:avLst/>
          <a:gdLst/>
          <a:ahLst/>
          <a:cxnLst/>
          <a:rect l="0" t="0" r="0" b="0"/>
          <a:pathLst>
            <a:path>
              <a:moveTo>
                <a:pt x="1820114" y="0"/>
              </a:moveTo>
              <a:lnTo>
                <a:pt x="1820114" y="295836"/>
              </a:lnTo>
              <a:lnTo>
                <a:pt x="0" y="295836"/>
              </a:lnTo>
              <a:lnTo>
                <a:pt x="0" y="55747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148564" y="2079819"/>
        <a:ext cx="95637" cy="6920"/>
      </dsp:txXfrm>
    </dsp:sp>
    <dsp:sp modelId="{F35265BC-41D0-490F-B90F-6191BC01623A}">
      <dsp:nvSpPr>
        <dsp:cNvPr id="0" name=""/>
        <dsp:cNvSpPr/>
      </dsp:nvSpPr>
      <dsp:spPr>
        <a:xfrm>
          <a:off x="5603480" y="2791"/>
          <a:ext cx="3005919" cy="1803551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47293" tIns="154609" rIns="147293" bIns="15460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Fire Weather Index (FWI)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is a standard index that combines </a:t>
          </a:r>
          <a:r>
            <a:rPr lang="en-US" sz="1600" b="1" kern="1200" dirty="0"/>
            <a:t>temperature, wind, humidity, and precipitation </a:t>
          </a:r>
          <a:r>
            <a:rPr lang="en-US" sz="1600" b="0" kern="1200" dirty="0"/>
            <a:t>to describe fire danger.</a:t>
          </a:r>
        </a:p>
      </dsp:txBody>
      <dsp:txXfrm>
        <a:off x="5603480" y="2791"/>
        <a:ext cx="3005919" cy="1803551"/>
      </dsp:txXfrm>
    </dsp:sp>
    <dsp:sp modelId="{93FA9C64-5A82-4176-A2B1-A1C5AE5C341A}">
      <dsp:nvSpPr>
        <dsp:cNvPr id="0" name=""/>
        <dsp:cNvSpPr/>
      </dsp:nvSpPr>
      <dsp:spPr>
        <a:xfrm>
          <a:off x="1972059" y="2394415"/>
          <a:ext cx="6628534" cy="1850841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47293" tIns="154609" rIns="147293" bIns="154609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Objectives of this project: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/>
            <a:t>Analyze seasonal behavior of FWI for spring (MAM) and summer (JJA) in Manitoba.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/>
            <a:t>Examine correlations between FWI and key meteorological variables.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/>
            <a:t>Build and compare predictive models of FWI using local climate variables and ENSO.</a:t>
          </a:r>
        </a:p>
      </dsp:txBody>
      <dsp:txXfrm>
        <a:off x="1972059" y="2394415"/>
        <a:ext cx="6628534" cy="18508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56EB09-FE8D-41D0-8E06-5202D7437544}">
      <dsp:nvSpPr>
        <dsp:cNvPr id="0" name=""/>
        <dsp:cNvSpPr/>
      </dsp:nvSpPr>
      <dsp:spPr>
        <a:xfrm>
          <a:off x="0" y="6876"/>
          <a:ext cx="7306318" cy="636480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/>
            <a:t>Source:</a:t>
          </a:r>
          <a:r>
            <a:rPr lang="en-US" sz="1800" i="0" kern="1200" baseline="0" dirty="0"/>
            <a:t> Canadian Wildland Fire Information System (</a:t>
          </a:r>
          <a:r>
            <a:rPr lang="en-US" sz="1800" b="1" i="0" kern="1200" baseline="0" dirty="0"/>
            <a:t>CWFIS</a:t>
          </a:r>
          <a:r>
            <a:rPr lang="en-US" sz="1800" i="0" kern="1200" baseline="0" dirty="0"/>
            <a:t>) daily data.</a:t>
          </a:r>
          <a:endParaRPr lang="en-US" sz="1800" kern="1200" dirty="0"/>
        </a:p>
      </dsp:txBody>
      <dsp:txXfrm>
        <a:off x="31070" y="37946"/>
        <a:ext cx="7244178" cy="574340"/>
      </dsp:txXfrm>
    </dsp:sp>
    <dsp:sp modelId="{122A1505-3F56-4515-93F5-1A7400862EAE}">
      <dsp:nvSpPr>
        <dsp:cNvPr id="0" name=""/>
        <dsp:cNvSpPr/>
      </dsp:nvSpPr>
      <dsp:spPr>
        <a:xfrm>
          <a:off x="0" y="741276"/>
          <a:ext cx="7306318" cy="636480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Region:</a:t>
          </a:r>
          <a:r>
            <a:rPr lang="en-US" sz="1800" i="0" kern="1200" baseline="0"/>
            <a:t> Stations located inside </a:t>
          </a:r>
          <a:r>
            <a:rPr lang="en-US" sz="1800" b="1" i="0" kern="1200" baseline="0"/>
            <a:t>Manitoba</a:t>
          </a:r>
          <a:r>
            <a:rPr lang="en-US" sz="1800" i="0" kern="1200" baseline="0"/>
            <a:t> only.</a:t>
          </a:r>
          <a:endParaRPr lang="en-US" sz="1800" kern="1200" dirty="0"/>
        </a:p>
      </dsp:txBody>
      <dsp:txXfrm>
        <a:off x="31070" y="772346"/>
        <a:ext cx="7244178" cy="574340"/>
      </dsp:txXfrm>
    </dsp:sp>
    <dsp:sp modelId="{CBD35391-A659-46F7-AB7B-01B7F52F3A64}">
      <dsp:nvSpPr>
        <dsp:cNvPr id="0" name=""/>
        <dsp:cNvSpPr/>
      </dsp:nvSpPr>
      <dsp:spPr>
        <a:xfrm>
          <a:off x="0" y="1475676"/>
          <a:ext cx="7306318" cy="636480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Time period:</a:t>
          </a:r>
          <a:r>
            <a:rPr lang="en-US" sz="1800" kern="1200"/>
            <a:t>1953- 2025</a:t>
          </a:r>
          <a:r>
            <a:rPr lang="en-US" sz="1800" i="0" kern="1200" baseline="0"/>
            <a:t>.</a:t>
          </a:r>
          <a:endParaRPr lang="en-US" sz="1800" kern="1200"/>
        </a:p>
      </dsp:txBody>
      <dsp:txXfrm>
        <a:off x="31070" y="1506746"/>
        <a:ext cx="7244178" cy="574340"/>
      </dsp:txXfrm>
    </dsp:sp>
    <dsp:sp modelId="{1F8BFB92-14CE-49BA-92D9-A7EFA43A15AE}">
      <dsp:nvSpPr>
        <dsp:cNvPr id="0" name=""/>
        <dsp:cNvSpPr/>
      </dsp:nvSpPr>
      <dsp:spPr>
        <a:xfrm>
          <a:off x="0" y="2210076"/>
          <a:ext cx="7306318" cy="636480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Main variables used:</a:t>
          </a:r>
          <a:endParaRPr lang="en-US" sz="1800" kern="1200" dirty="0"/>
        </a:p>
      </dsp:txBody>
      <dsp:txXfrm>
        <a:off x="31070" y="2241146"/>
        <a:ext cx="7244178" cy="574340"/>
      </dsp:txXfrm>
    </dsp:sp>
    <dsp:sp modelId="{9991B71D-62A0-476D-9476-2E6C4EA1DBA1}">
      <dsp:nvSpPr>
        <dsp:cNvPr id="0" name=""/>
        <dsp:cNvSpPr/>
      </dsp:nvSpPr>
      <dsp:spPr>
        <a:xfrm>
          <a:off x="0" y="2828270"/>
          <a:ext cx="7306318" cy="1865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1976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 baseline="0" dirty="0"/>
            <a:t>Fire Weather Index (FWI)</a:t>
          </a:r>
          <a:endParaRPr lang="en-US" sz="1800" b="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 baseline="0" dirty="0"/>
            <a:t>Air temperature (T, Temp)</a:t>
          </a:r>
          <a:endParaRPr lang="en-US" sz="1800" b="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 baseline="0" dirty="0"/>
            <a:t>Relative humidity (RH)</a:t>
          </a:r>
          <a:endParaRPr lang="en-US" sz="1800" b="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 baseline="0" dirty="0"/>
            <a:t>Wind speed (</a:t>
          </a:r>
          <a:r>
            <a:rPr lang="en-US" sz="1800" b="0" i="0" kern="1200" baseline="0" dirty="0" err="1"/>
            <a:t>Ws</a:t>
          </a:r>
          <a:r>
            <a:rPr lang="en-US" sz="1800" b="0" i="0" kern="1200" baseline="0" dirty="0"/>
            <a:t>)</a:t>
          </a:r>
          <a:endParaRPr lang="en-US" sz="1800" b="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 baseline="0" dirty="0"/>
            <a:t>Precipitation (</a:t>
          </a:r>
          <a:r>
            <a:rPr lang="en-US" sz="1800" b="0" i="0" kern="1200" baseline="0" dirty="0" err="1"/>
            <a:t>Precip,P</a:t>
          </a:r>
          <a:r>
            <a:rPr lang="en-US" sz="1800" b="0" i="0" kern="1200" baseline="0" dirty="0"/>
            <a:t>)</a:t>
          </a:r>
          <a:endParaRPr lang="en-US" sz="1800" b="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 baseline="0" dirty="0"/>
            <a:t>ENSO index (Niño 3.4) from global climate databases</a:t>
          </a:r>
          <a:endParaRPr lang="en-US" sz="1800" b="0" kern="1200" dirty="0"/>
        </a:p>
      </dsp:txBody>
      <dsp:txXfrm>
        <a:off x="0" y="2828270"/>
        <a:ext cx="7306318" cy="18650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1FF9FC-F939-4F61-8184-3F937364EC60}">
      <dsp:nvSpPr>
        <dsp:cNvPr id="0" name=""/>
        <dsp:cNvSpPr/>
      </dsp:nvSpPr>
      <dsp:spPr>
        <a:xfrm>
          <a:off x="1218" y="0"/>
          <a:ext cx="2375848" cy="713653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2014" tIns="56007" rIns="28004" bIns="5600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Data</a:t>
          </a:r>
        </a:p>
      </dsp:txBody>
      <dsp:txXfrm>
        <a:off x="1218" y="0"/>
        <a:ext cx="2197435" cy="713653"/>
      </dsp:txXfrm>
    </dsp:sp>
    <dsp:sp modelId="{0E4C4E35-9901-43DA-893E-812F21174117}">
      <dsp:nvSpPr>
        <dsp:cNvPr id="0" name=""/>
        <dsp:cNvSpPr/>
      </dsp:nvSpPr>
      <dsp:spPr>
        <a:xfrm>
          <a:off x="1901896" y="0"/>
          <a:ext cx="2375848" cy="713653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4011" tIns="56007" rIns="28004" bIns="5600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QC &amp; Filtering</a:t>
          </a:r>
          <a:endParaRPr lang="en-US" sz="2100" kern="1200" dirty="0"/>
        </a:p>
      </dsp:txBody>
      <dsp:txXfrm>
        <a:off x="2258723" y="0"/>
        <a:ext cx="1662195" cy="713653"/>
      </dsp:txXfrm>
    </dsp:sp>
    <dsp:sp modelId="{82D8670D-F254-434D-A1AF-37B3912F21B7}">
      <dsp:nvSpPr>
        <dsp:cNvPr id="0" name=""/>
        <dsp:cNvSpPr/>
      </dsp:nvSpPr>
      <dsp:spPr>
        <a:xfrm>
          <a:off x="3802575" y="0"/>
          <a:ext cx="2375848" cy="713653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4011" tIns="56007" rIns="28004" bIns="5600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Seasonal aggregation</a:t>
          </a:r>
          <a:endParaRPr lang="en-US" sz="2100" kern="1200" dirty="0"/>
        </a:p>
      </dsp:txBody>
      <dsp:txXfrm>
        <a:off x="4159402" y="0"/>
        <a:ext cx="1662195" cy="713653"/>
      </dsp:txXfrm>
    </dsp:sp>
    <dsp:sp modelId="{93403D49-2E73-459B-B950-F7FCDAC184C3}">
      <dsp:nvSpPr>
        <dsp:cNvPr id="0" name=""/>
        <dsp:cNvSpPr/>
      </dsp:nvSpPr>
      <dsp:spPr>
        <a:xfrm>
          <a:off x="5703253" y="0"/>
          <a:ext cx="2375848" cy="713653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4011" tIns="56007" rIns="28004" bIns="5600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FWI Classes</a:t>
          </a:r>
          <a:endParaRPr lang="en-US" sz="2100" kern="1200" dirty="0"/>
        </a:p>
      </dsp:txBody>
      <dsp:txXfrm>
        <a:off x="6060080" y="0"/>
        <a:ext cx="1662195" cy="713653"/>
      </dsp:txXfrm>
    </dsp:sp>
    <dsp:sp modelId="{042F3C84-D29E-4754-A2A2-CAABC2E007FA}">
      <dsp:nvSpPr>
        <dsp:cNvPr id="0" name=""/>
        <dsp:cNvSpPr/>
      </dsp:nvSpPr>
      <dsp:spPr>
        <a:xfrm>
          <a:off x="7603932" y="0"/>
          <a:ext cx="2375848" cy="713653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4011" tIns="56007" rIns="28004" bIns="5600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Models &amp; Evaluation</a:t>
          </a:r>
          <a:endParaRPr lang="en-US" sz="2100" kern="1200" dirty="0"/>
        </a:p>
      </dsp:txBody>
      <dsp:txXfrm>
        <a:off x="7960759" y="0"/>
        <a:ext cx="1662195" cy="7136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127F54-E591-4760-8000-1069BEA829B4}">
      <dsp:nvSpPr>
        <dsp:cNvPr id="0" name=""/>
        <dsp:cNvSpPr/>
      </dsp:nvSpPr>
      <dsp:spPr>
        <a:xfrm>
          <a:off x="0" y="3841"/>
          <a:ext cx="369011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58B22-8414-472A-A350-AF773790C1F1}">
      <dsp:nvSpPr>
        <dsp:cNvPr id="0" name=""/>
        <dsp:cNvSpPr/>
      </dsp:nvSpPr>
      <dsp:spPr>
        <a:xfrm>
          <a:off x="0" y="3841"/>
          <a:ext cx="3686509" cy="2066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1"/>
              </a:solidFill>
            </a:rPr>
            <a:t>FWI has weak positive correlation with spring temperature/wind and weak negative correlation with humidity/precipitation</a:t>
          </a:r>
        </a:p>
      </dsp:txBody>
      <dsp:txXfrm>
        <a:off x="0" y="3841"/>
        <a:ext cx="3686509" cy="2066457"/>
      </dsp:txXfrm>
    </dsp:sp>
    <dsp:sp modelId="{62ECA17C-27CC-44D8-99C4-6F6595D49D56}">
      <dsp:nvSpPr>
        <dsp:cNvPr id="0" name=""/>
        <dsp:cNvSpPr/>
      </dsp:nvSpPr>
      <dsp:spPr>
        <a:xfrm>
          <a:off x="0" y="2070299"/>
          <a:ext cx="369011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037A4C-0382-4645-AED5-7459C4D437DA}">
      <dsp:nvSpPr>
        <dsp:cNvPr id="0" name=""/>
        <dsp:cNvSpPr/>
      </dsp:nvSpPr>
      <dsp:spPr>
        <a:xfrm>
          <a:off x="0" y="2070299"/>
          <a:ext cx="3690113" cy="1479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ENSO has near-zero correlation with FWI in MAM.</a:t>
          </a:r>
        </a:p>
      </dsp:txBody>
      <dsp:txXfrm>
        <a:off x="0" y="2070299"/>
        <a:ext cx="3690113" cy="1479422"/>
      </dsp:txXfrm>
    </dsp:sp>
    <dsp:sp modelId="{B20D0C2A-D852-4836-8022-FA1D07FA6589}">
      <dsp:nvSpPr>
        <dsp:cNvPr id="0" name=""/>
        <dsp:cNvSpPr/>
      </dsp:nvSpPr>
      <dsp:spPr>
        <a:xfrm>
          <a:off x="0" y="3549721"/>
          <a:ext cx="369011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41D22-1134-4BF1-9061-6B798A1769A0}">
      <dsp:nvSpPr>
        <dsp:cNvPr id="0" name=""/>
        <dsp:cNvSpPr/>
      </dsp:nvSpPr>
      <dsp:spPr>
        <a:xfrm>
          <a:off x="0" y="3549721"/>
          <a:ext cx="3690113" cy="1479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Predictors are strongly inter-correlated (T vs RH)</a:t>
          </a:r>
        </a:p>
      </dsp:txBody>
      <dsp:txXfrm>
        <a:off x="0" y="3549721"/>
        <a:ext cx="3690113" cy="147942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92036F-6393-42D5-ABDE-63A25AC579D0}">
      <dsp:nvSpPr>
        <dsp:cNvPr id="0" name=""/>
        <dsp:cNvSpPr/>
      </dsp:nvSpPr>
      <dsp:spPr>
        <a:xfrm>
          <a:off x="0" y="0"/>
          <a:ext cx="4665661" cy="4665661"/>
        </a:xfrm>
        <a:prstGeom prst="pie">
          <a:avLst>
            <a:gd name="adj1" fmla="val 5400000"/>
            <a:gd name="adj2" fmla="val 16200000"/>
          </a:avLst>
        </a:prstGeom>
        <a:solidFill>
          <a:srgbClr val="012F6B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3B1F21D-615C-4E59-B217-260D3BEA89E7}">
      <dsp:nvSpPr>
        <dsp:cNvPr id="0" name=""/>
        <dsp:cNvSpPr/>
      </dsp:nvSpPr>
      <dsp:spPr>
        <a:xfrm>
          <a:off x="2332830" y="0"/>
          <a:ext cx="8555302" cy="466566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1. Seasonal FWI in Manitoba is </a:t>
          </a:r>
          <a:r>
            <a:rPr lang="en-US" sz="2000" b="1" kern="1200" dirty="0"/>
            <a:t>highly variable </a:t>
          </a:r>
          <a:r>
            <a:rPr lang="en-US" sz="2000" kern="1200" dirty="0"/>
            <a:t>long-term trends are weak at   the provincial scale.</a:t>
          </a:r>
        </a:p>
      </dsp:txBody>
      <dsp:txXfrm>
        <a:off x="2332830" y="0"/>
        <a:ext cx="8555302" cy="746505"/>
      </dsp:txXfrm>
    </dsp:sp>
    <dsp:sp modelId="{F2D9CEF0-1297-4323-8A2B-A28F65AE2518}">
      <dsp:nvSpPr>
        <dsp:cNvPr id="0" name=""/>
        <dsp:cNvSpPr/>
      </dsp:nvSpPr>
      <dsp:spPr>
        <a:xfrm>
          <a:off x="489894" y="746505"/>
          <a:ext cx="3685872" cy="3685872"/>
        </a:xfrm>
        <a:prstGeom prst="pie">
          <a:avLst>
            <a:gd name="adj1" fmla="val 5400000"/>
            <a:gd name="adj2" fmla="val 16200000"/>
          </a:avLst>
        </a:prstGeom>
        <a:solidFill>
          <a:srgbClr val="00A2E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24708D3-2EF9-4F35-B17E-1C6928062233}">
      <dsp:nvSpPr>
        <dsp:cNvPr id="0" name=""/>
        <dsp:cNvSpPr/>
      </dsp:nvSpPr>
      <dsp:spPr>
        <a:xfrm>
          <a:off x="2332830" y="746505"/>
          <a:ext cx="8555302" cy="368587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FFFF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2. Spring FWI is slightly higher in warmer, drier, windier springs, but </a:t>
          </a:r>
          <a:r>
            <a:rPr lang="en-US" sz="2000" b="1" kern="1200" dirty="0"/>
            <a:t>correlations</a:t>
          </a:r>
          <a:r>
            <a:rPr lang="en-US" sz="2000" kern="1200" dirty="0"/>
            <a:t> with individual variables are </a:t>
          </a:r>
          <a:r>
            <a:rPr lang="en-US" sz="2000" b="1" kern="1200" dirty="0"/>
            <a:t>modest</a:t>
          </a:r>
          <a:r>
            <a:rPr lang="en-US" sz="2000" kern="1200" dirty="0"/>
            <a:t>. </a:t>
          </a:r>
        </a:p>
      </dsp:txBody>
      <dsp:txXfrm>
        <a:off x="2332830" y="746505"/>
        <a:ext cx="8555302" cy="746505"/>
      </dsp:txXfrm>
    </dsp:sp>
    <dsp:sp modelId="{C4C89106-C563-4C15-A05F-08D534DBDC3B}">
      <dsp:nvSpPr>
        <dsp:cNvPr id="0" name=""/>
        <dsp:cNvSpPr/>
      </dsp:nvSpPr>
      <dsp:spPr>
        <a:xfrm>
          <a:off x="979789" y="1493011"/>
          <a:ext cx="2706083" cy="2706083"/>
        </a:xfrm>
        <a:prstGeom prst="pie">
          <a:avLst>
            <a:gd name="adj1" fmla="val 5400000"/>
            <a:gd name="adj2" fmla="val 16200000"/>
          </a:avLst>
        </a:prstGeom>
        <a:solidFill>
          <a:srgbClr val="FFFFFF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CE8F05C-3A6D-411A-A4F2-53FD2995023E}">
      <dsp:nvSpPr>
        <dsp:cNvPr id="0" name=""/>
        <dsp:cNvSpPr/>
      </dsp:nvSpPr>
      <dsp:spPr>
        <a:xfrm>
          <a:off x="2332830" y="1493011"/>
          <a:ext cx="8555302" cy="270608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FFFF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3. Because high-FWI days are </a:t>
          </a:r>
          <a:r>
            <a:rPr lang="en-US" sz="2000" b="0" kern="1200" dirty="0"/>
            <a:t>rare</a:t>
          </a:r>
          <a:r>
            <a:rPr lang="en-US" sz="2000" kern="1200" dirty="0"/>
            <a:t>, </a:t>
          </a:r>
          <a:r>
            <a:rPr lang="en-US" sz="2000" b="1" kern="1200" dirty="0"/>
            <a:t>tree models </a:t>
          </a:r>
          <a:r>
            <a:rPr lang="en-US" sz="2000" kern="1200" dirty="0"/>
            <a:t>look good on accuracy but </a:t>
          </a:r>
          <a:r>
            <a:rPr lang="en-US" sz="2000" b="1" kern="1200" dirty="0"/>
            <a:t>hardly ever predict </a:t>
          </a:r>
          <a:r>
            <a:rPr lang="en-US" sz="2000" kern="1200" dirty="0"/>
            <a:t>the high class. </a:t>
          </a:r>
        </a:p>
      </dsp:txBody>
      <dsp:txXfrm>
        <a:off x="2332830" y="1493011"/>
        <a:ext cx="8555302" cy="746505"/>
      </dsp:txXfrm>
    </dsp:sp>
    <dsp:sp modelId="{A2EBE748-A76F-4248-A9A4-B80CE0FE31FB}">
      <dsp:nvSpPr>
        <dsp:cNvPr id="0" name=""/>
        <dsp:cNvSpPr/>
      </dsp:nvSpPr>
      <dsp:spPr>
        <a:xfrm>
          <a:off x="1469683" y="2239517"/>
          <a:ext cx="1726294" cy="1726294"/>
        </a:xfrm>
        <a:prstGeom prst="pie">
          <a:avLst>
            <a:gd name="adj1" fmla="val 5400000"/>
            <a:gd name="adj2" fmla="val 16200000"/>
          </a:avLst>
        </a:prstGeom>
        <a:solidFill>
          <a:srgbClr val="3E1707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B0B7336-C5E5-4392-9776-BC298A46D11D}">
      <dsp:nvSpPr>
        <dsp:cNvPr id="0" name=""/>
        <dsp:cNvSpPr/>
      </dsp:nvSpPr>
      <dsp:spPr>
        <a:xfrm>
          <a:off x="2332830" y="2318556"/>
          <a:ext cx="8555302" cy="156821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FFFF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4. </a:t>
          </a:r>
          <a:r>
            <a:rPr lang="en-US" sz="2000" b="1" kern="1200" dirty="0"/>
            <a:t>Logistic regression </a:t>
          </a:r>
          <a:r>
            <a:rPr lang="en-US" sz="2000" kern="1200" dirty="0"/>
            <a:t>gives the </a:t>
          </a:r>
          <a:r>
            <a:rPr lang="en-US" sz="2000" b="1" kern="1200" dirty="0"/>
            <a:t>best balance </a:t>
          </a:r>
          <a:r>
            <a:rPr lang="en-US" sz="2000" kern="1200" dirty="0"/>
            <a:t>for high-FWI detection</a:t>
          </a:r>
        </a:p>
      </dsp:txBody>
      <dsp:txXfrm>
        <a:off x="2332830" y="2318556"/>
        <a:ext cx="8555302" cy="678148"/>
      </dsp:txXfrm>
    </dsp:sp>
    <dsp:sp modelId="{DF69C926-6D96-4F47-9F0E-A3E9218DF0B5}">
      <dsp:nvSpPr>
        <dsp:cNvPr id="0" name=""/>
        <dsp:cNvSpPr/>
      </dsp:nvSpPr>
      <dsp:spPr>
        <a:xfrm>
          <a:off x="1959578" y="2986023"/>
          <a:ext cx="746505" cy="746505"/>
        </a:xfrm>
        <a:prstGeom prst="pie">
          <a:avLst>
            <a:gd name="adj1" fmla="val 5400000"/>
            <a:gd name="adj2" fmla="val 16200000"/>
          </a:avLst>
        </a:prstGeom>
        <a:solidFill>
          <a:srgbClr val="F2AA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D2F60CF-4F18-4F12-BE26-288A75D8F8C1}">
      <dsp:nvSpPr>
        <dsp:cNvPr id="0" name=""/>
        <dsp:cNvSpPr/>
      </dsp:nvSpPr>
      <dsp:spPr>
        <a:xfrm>
          <a:off x="2332830" y="2986023"/>
          <a:ext cx="8555302" cy="74650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FFFF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5.Adding </a:t>
          </a:r>
          <a:r>
            <a:rPr lang="en-US" sz="2000" b="1" kern="1200" dirty="0"/>
            <a:t>ENSO</a:t>
          </a:r>
          <a:r>
            <a:rPr lang="en-US" sz="2000" kern="1200" dirty="0"/>
            <a:t> only </a:t>
          </a:r>
          <a:r>
            <a:rPr lang="en-US" sz="2000" b="1" kern="1200" dirty="0"/>
            <a:t>slightly changes </a:t>
          </a:r>
          <a:r>
            <a:rPr lang="en-US" sz="2000" kern="1200" dirty="0"/>
            <a:t>model performance</a:t>
          </a:r>
        </a:p>
      </dsp:txBody>
      <dsp:txXfrm>
        <a:off x="2332830" y="2986023"/>
        <a:ext cx="8555302" cy="74650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13C404-EBA7-46E0-B8B8-1BF2CBC67714}">
      <dsp:nvSpPr>
        <dsp:cNvPr id="0" name=""/>
        <dsp:cNvSpPr/>
      </dsp:nvSpPr>
      <dsp:spPr>
        <a:xfrm>
          <a:off x="67730" y="180491"/>
          <a:ext cx="3508007" cy="27692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76200" cap="flat" cmpd="sng" algn="ctr">
          <a:solidFill>
            <a:srgbClr val="012F6B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Apply imbalance handling techniques (class weights, resampling) and improve probability calibration.</a:t>
          </a:r>
        </a:p>
      </dsp:txBody>
      <dsp:txXfrm>
        <a:off x="148837" y="261598"/>
        <a:ext cx="3345793" cy="2606996"/>
      </dsp:txXfrm>
    </dsp:sp>
    <dsp:sp modelId="{5C62B7DE-EB56-45CE-BA3D-1F6D7FF32CBF}">
      <dsp:nvSpPr>
        <dsp:cNvPr id="0" name=""/>
        <dsp:cNvSpPr/>
      </dsp:nvSpPr>
      <dsp:spPr>
        <a:xfrm>
          <a:off x="3690062" y="948225"/>
          <a:ext cx="3508007" cy="27692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76200" cap="flat" cmpd="sng" algn="ctr">
          <a:solidFill>
            <a:srgbClr val="FFCE3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Explore additional predictors such as soil moisture, vegetation indices and other climate indices to increase forecast skill for dangerous fire weather seasons.</a:t>
          </a:r>
        </a:p>
      </dsp:txBody>
      <dsp:txXfrm>
        <a:off x="3771169" y="1029332"/>
        <a:ext cx="3345793" cy="2606996"/>
      </dsp:txXfrm>
    </dsp:sp>
    <dsp:sp modelId="{EC6959B6-98CD-4A4A-8AC1-172EB49A5E5E}">
      <dsp:nvSpPr>
        <dsp:cNvPr id="0" name=""/>
        <dsp:cNvSpPr/>
      </dsp:nvSpPr>
      <dsp:spPr>
        <a:xfrm>
          <a:off x="7314085" y="1896451"/>
          <a:ext cx="3508007" cy="27692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76200" cap="flat" cmpd="sng" algn="ctr">
          <a:solidFill>
            <a:srgbClr val="00A2E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Calculate the accuracy per station to investigate the reason and results</a:t>
          </a:r>
        </a:p>
      </dsp:txBody>
      <dsp:txXfrm>
        <a:off x="7395192" y="1977558"/>
        <a:ext cx="3345793" cy="26069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5:37.3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210 209 24524,'-210'-105'0,"420"0"0,-420 210 0,3045-105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5:45.5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2892 0 24560,'-2891'0'0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5:47.2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5:50.9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6:09.5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15 304 24575,'34'1'0,"-4"-1"0,0 0 0,0-2 0,43-8 0,-21-5 0,-37 10 0,2 0 0,32-5 0,-26 6 0,0-1 0,26-8 0,-22 5 0,29-5 0,23-4 0,-56 10 0,0 2 0,1 1 0,31-2 0,185-7 0,-64 14 0,237 33 0,-387-31 0,6 1 0,-1 1 0,0 2 0,31 10 0,-61-17 0,0 0 0,0 1 0,0-1 0,0 0 0,0 0 0,0 1 0,0-1 0,0 1 0,-1-1 0,1 1 0,0-1 0,0 1 0,-1 0 0,1-1 0,0 1 0,-1 0 0,1-1 0,0 1 0,-1 0 0,1 0 0,-1 0 0,0 0 0,1-1 0,-1 1 0,1 0 0,-1 0 0,0 0 0,0 0 0,0 0 0,0 0 0,1 0 0,-1 0 0,0 0 0,-1 0 0,1 0 0,0 0 0,0 0 0,0 0 0,-1 0 0,1-1 0,0 1 0,-1 0 0,1 0 0,0 0 0,-1 0 0,1 0 0,-1-1 0,0 1 0,1 0 0,-1-1 0,0 1 0,0 0 0,-4 4 0,1 0 0,-1-1 0,0 0 0,0 0 0,-1 0 0,-8 5 0,1-4 0,-1 0 0,1 0 0,-1-1 0,0-1 0,1 0 0,-27 2 0,-88-5 0,60-2 0,-57-11 0,-670 14 0,920-4 0,198-28 0,-53-4 0,-112 31 0,-104 5 0,91-11 0,-87 3 0,0 3 0,0 3 0,0 2 0,87 13 0,-110-10 0,-1-3 0,1 0 0,56-8 0,-67 5 0,-15 1 0,0 1 0,0-1 0,1-1 0,-1 0 0,0 0 0,-1-1 0,1 0 0,14-7 0,-8 1 0,1 0 0,1 2 0,0 0 0,0 0 0,0 2 0,0 0 0,1 1 0,0 1 0,0 1 0,0 0 0,0 1 0,0 1 0,22 3 0,-2-1 0,-24-1 0,0 0 0,0 0 0,0 1 0,0 1 0,24 8 0,-35-10 0,0 0 0,-1 1 0,1-1 0,0 0 0,-1 1 0,1 0 0,-1-1 0,3 3 0,-5-3 0,0-1 0,1 0 0,-1 1 0,0-1 0,0 0 0,0 1 0,1-1 0,-1 0 0,0 1 0,0-1 0,0 1 0,0-1 0,0 0 0,0 1 0,0-1 0,0 0 0,0 1 0,0-1 0,0 1 0,0-1 0,0 0 0,0 1 0,0-1 0,-1 0 0,1 1 0,-14 12 0,2-7 0,0 0 0,-1 0 0,0-1 0,0 0 0,-1-1 0,1-1 0,-22 3 0,-8-2 0,-47-2 0,-38 3 0,110-3 0,11-2 0,0 0 0,0 1 0,1 0 0,-1 1 0,0-1 0,1 1 0,-1 1 0,-7 3 0,14-6 0,0 0 0,0 0 0,-1 0 0,1 0 0,0 0 0,0 0 0,0 0 0,0 0 0,0 0 0,0 1 0,0-1 0,0 0 0,0 0 0,0 0 0,0 0 0,0 0 0,0 0 0,0 0 0,0 0 0,0 0 0,0 0 0,0 1 0,0-1 0,0 0 0,0 0 0,0 0 0,0 0 0,0 0 0,0 0 0,0 0 0,0 0 0,0 0 0,0 1 0,0-1 0,0 0 0,0 0 0,0 0 0,0 0 0,0 0 0,0 0 0,0 0 0,0 0 0,0 0 0,0 0 0,0 0 0,0 1 0,0-1 0,0 0 0,1 0 0,-1 0 0,0 0 0,0 0 0,0 0 0,0 0 0,0 0 0,0 0 0,0 0 0,0 0 0,0 0 0,1 0 0,-1 0 0,0 0 0,0 0 0,0 0 0,0 0 0,12 3 0,15-1 0,27 0 0,21 0 0,78-7 0,-136 2 0,0-1 0,0 0 0,-1-2 0,27-11 0,-25 9 0,2 1 0,33-9 0,-28 9 0,-19 5 0,0 1 0,0-1 0,0 1 0,11-1 0,-16 2 0,0 0 0,0 1 0,0-1 0,0 1 0,0-1 0,-1 1 0,1-1 0,0 1 0,0-1 0,0 1 0,0 0 0,-1-1 0,1 1 0,0 0 0,0 0 0,-1 0 0,1 0 0,-1-1 0,1 1 0,-1 0 0,1 0 0,-1 0 0,0 0 0,1 0 0,-1 2 0,7 32 0,-6-29 0,2 9 0,4 21 0,-7-35 0,0 1 0,1 0 0,-1-1 0,0 1 0,0 0 0,-1-1 0,1 1 0,0 0 0,-1-1 0,1 1 0,0 0 0,-1-1 0,0 1 0,1-1 0,-2 3 0,1-3 0,0-1 0,0 0 0,0 1 0,0-1 0,0 1 0,0-1 0,0 0 0,0 0 0,0 0 0,0 0 0,-1 0 0,1 0 0,0 0 0,0 0 0,0 0 0,0 0 0,0 0 0,0-1 0,0 1 0,0 0 0,0-1 0,0 1 0,0-1 0,0 1 0,1-1 0,-1 0 0,0 1 0,-1-2 0,4 0 0,0 1 0,0-1 0,1 1 0,-1 0 0,0 0 0,1 0 0,-1 0 0,5-1 0,-7 2 0,7-3 0,-1 1 0,1 0 0,0 1 0,-1-1 0,1 1 0,0 1 0,0-1 0,0 1 0,0 1 0,0-1 0,0 1 0,-1 0 0,1 1 0,7 2 0,3-1 0,-1-1 0,0 0 0,1-1 0,-1-1 0,24-2 0,-20 1 0,-60 1 0,-248 10 0,207-5 0,-81-6 0,58-1 0,32 3 0,-77-2 0,101-5 0,32 3 0,-31-1 0,-328 5 0,368-1 0,1 1 0,0 0 0,0 1 0,0-1 0,-7 4 0,-23 4 0,-49 5 0,52-7 0,1-2 0,-57 1 0,51-6 0,-424 0 0,332 6 0,-84 1 0,-247-7 0,459 0 0,0 0 0,1 0 0,-1 0 0,0 0 0,1 0 0,-1 0 0,0-1 0,1 1 0,-1 0 0,0-1 0,1 1 0,-1-1 0,1 0 0,-1 0 0,1 1 0,0-1 0,-1 0 0,1 0 0,0 0 0,-1 0 0,1-1 0,0 1 0,0 0 0,-1-2 0,0-1 0,1 0 0,0 0 0,0 0 0,0 0 0,1 0 0,-1 0 0,1 0 0,0 0 0,1-4 0,-2 3 0,1 1 0,1 0 0,-1-1 0,1 1 0,-1 0 0,1-1 0,0 1 0,1 0 0,-1 0 0,1 0 0,0 0 0,0 0 0,0 0 0,0 1 0,1-1 0,-1 1 0,1-1 0,0 1 0,0 0 0,0 0 0,1 0 0,-1 1 0,1-1 0,-1 1 0,1 0 0,0 0 0,0 0 0,0 0 0,0 1 0,0-1 0,1 1 0,-1 0 0,0 1 0,0-1 0,1 1 0,7 0 0,0 0 0,0 2 0,-1-1 0,1 2 0,-1-1 0,1 2 0,-1 0 0,0 0 0,0 1 0,12 7 0,3 0 0,-8-5 0,0 0 0,1-1 0,-1-2 0,1 0 0,0 0 0,26 0 0,7-3 0,57-5 0,-73 0 0,69-18 0,-4 0 0,-1 9 0,66-12 0,-140 21 0,47-1 0,-17 1 0,-34 1 0,-1-1 0,26-9 0,6-1 0,13 3 0,79-4 0,-69 8 0,9-3 0,44-4 0,-104 14 0,-13 0 0,1 0 0,-1 0 0,1-2 0,-1 1 0,0-2 0,0 1 0,0-2 0,0 1 0,17-9 0,17-13 0,94-48 0,-126 66-1365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6:13.5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51 24575,'323'0'0,"-312"-1"0,0 0 0,0-1 0,12-3 0,20-3 0,88-14 0,-83 10-1365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6:15.6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6:16.2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6:16.7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6:17.2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6:17.7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6:45.6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17 292 24575,'1'-1'0,"1"0"0,0 0 0,0 0 0,-1 0 0,1 0 0,0 1 0,0-1 0,0 1 0,0-1 0,0 1 0,0 0 0,3 0 0,0-1 0,140-20 0,-98 14 0,-31 4 0,0 0 0,23 0 0,-16 2 0,0-1 0,44-10 0,-22 2 0,-21 6 0,-11 1 0,1 1 0,-1 0 0,16 0 0,8 0 0,-24 2 0,-40 6 0,-12 3 0,24-7 0,0 1 0,0 0 0,1 2 0,-1 0 0,-24 12 0,39-17 0,-1 0 0,1 0 0,0 0 0,-1 0 0,1 0 0,0 0 0,-1 0 0,1 0 0,0 0 0,0 1 0,-1-1 0,1 0 0,0 0 0,0 0 0,-1 1 0,1-1 0,0 0 0,0 0 0,0 0 0,-1 1 0,1-1 0,0 0 0,0 1 0,0-1 0,0 0 0,0 0 0,0 1 0,-1-1 0,1 0 0,0 1 0,0-1 0,0 0 0,0 0 0,0 1 0,0-1 0,0 0 0,0 1 0,0-1 0,0 0 0,1 1 0,-1-1 0,0 0 0,0 1 0,16 4 0,22-2 0,35 1 0,-50-2 0,0-1 0,0 0 0,26-4 0,-41 1 0,0 0 0,0 0 0,0-1 0,9-4 0,-11 4 0,0 0 0,0 1 0,1 0 0,-1 0 0,1 1 0,0-1 0,11 0 0,178-3 0,101 5 0,-179-13 0,144 19 0,-247-5 0,186 5 0,-94-6 0,86-2 0,210 28 0,-356-23 0,81-3 0,-49-2 0,-74 2 0,-1 1 0,0-1 0,0 0 0,0-1 0,0 1 0,0-1 0,0 1 0,7-3 0,-9 2 0,-1 0 0,0 0 0,1-1 0,-1 1 0,0 0 0,0 0 0,0-1 0,0 1 0,0 0 0,0-1 0,0 1 0,0-1 0,0 0 0,-1 1 0,1-1 0,-1 1 0,1-1 0,-1 0 0,0 0 0,1 1 0,-1-3 0,2-11 0,-1 11 0,0-1 0,0 1 0,-1 0 0,1-1 0,-1 1 0,0-1 0,-1-5 0,0 8 0,0 0 0,1 1 0,-1-1 0,0 1 0,0-1 0,0 1 0,0-1 0,0 1 0,0 0 0,0 0 0,0-1 0,-1 1 0,1 0 0,0 0 0,-1 0 0,1 0 0,-1 0 0,1 1 0,-1-1 0,0 0 0,1 1 0,-1-1 0,-2 0 0,-19-3 0,0 0 0,0 2 0,0 0 0,0 1 0,-46 6 0,42-3 0,0-1 0,0-1 0,-53-7 0,49 1 0,-8-2 0,-56-4 0,-166 6 0,263 6 0,234-13 0,-156 13 0,223 10 0,-286-8 0,-2-1 0,-30-1 0,-267 6 0,265-5 0,-8 0 0,-36 7 0,45-5 0,1-1 0,-20-1 0,19-1 0,0 1 0,-19 3 0,-22 8 0,-79 6 0,43-4 0,-140-8 0,619-28 0,-249 12 0,166 8 0,-146 4 0,-106-2 0,-25 0 0,-22 0 0,-8 0 0,-277 6 0,157 2 0,56-3 0,17-2 0,-183 7 0,-197-4 0,360-7 0,22-1 0,-51 6 0,-19 9 0,-4-7 0,27 7 0,-81 3 0,20-1 0,-101-13 0,129-4 0,113 2 0,10 1 0,0-1 0,-1 0 0,1-1 0,0 1 0,-10-4 0,14 4 0,-1-1 0,1 0 0,0 0 0,0-1 0,0 1 0,0 0 0,1-1 0,-1 1 0,0-1 0,1 1 0,-1-1 0,0 0 0,1 0 0,0 0 0,0 0 0,-1 0 0,1 0 0,0 0 0,0-2 0,-3-9 0,0-1 0,1 1 0,0-1 0,2 1 0,-1-1 0,2 0 0,1-22 0,-2-25 0,1 60 0,0 1 0,0-1 0,0 0 0,0 1 0,0-1 0,-1 0 0,1 1 0,0-1 0,0 1 0,-1-1 0,1 0 0,-1 1 0,1-1 0,0 1 0,-1-1 0,1 1 0,-1-1 0,1 1 0,-1 0 0,0-1 0,1 1 0,-1-1 0,1 1 0,-2-1 0,-21-3 0,-23 9 0,42-3 0,1-1 0,-1 1 0,1 0 0,0 0 0,-1 0 0,1 0 0,0 1 0,0-1 0,1 1 0,-1 0 0,0 0 0,1 0 0,0 0 0,0 0 0,-3 5 0,2-3 0,-1 1 0,0-1 0,0 0 0,-8 6 0,10-9 0,0 1 0,0-1 0,1 0 0,-1 0 0,0 0 0,1 1 0,0-1 0,-1 1 0,1-1 0,0 1 0,0 0 0,1-1 0,-1 1 0,1 0 0,-1 0 0,1 4 0,1 54 0,1-30 0,-2-17 0,-1-10 0,1 1 0,0 0 0,0 0 0,1 0 0,-1 0 0,1 0 0,2 5 0,-3-9 0,1 1 0,0-1 0,-1 0 0,1 0 0,0 0 0,0-1 0,0 1 0,0 0 0,0 0 0,0 0 0,0 0 0,0-1 0,0 1 0,0-1 0,0 1 0,0-1 0,0 1 0,1-1 0,-1 1 0,0-1 0,0 0 0,1 0 0,-1 0 0,0 0 0,0 0 0,1 0 0,-1 0 0,0 0 0,0 0 0,1-1 0,-1 1 0,0 0 0,2-1 0,15-5 0,0-1 0,0-1 0,-1 0 0,0-1 0,-1-1 0,0-1 0,18-14 0,19-13 0,-3 9 0,1 2 0,1 2 0,57-19 0,-97 40 0,-1 1 0,1 0 0,0 1 0,0 0 0,0 1 0,0 0 0,25 2 0,-5 3 0,51 13 0,-23-4 0,79 10 0,-137-23 0,-1 0 0,0 0 0,0 0 0,0 0 0,0 0 0,0 1 0,0-1 0,0 0 0,0 0 0,0 1 0,0-1 0,0 1 0,0-1 0,0 1 0,0-1 0,0 1 0,0 0 0,0-1 0,0 1 0,0 1 0,-1-1 0,0-1 0,0 1 0,-1 0 0,1-1 0,0 1 0,0-1 0,-1 1 0,1 0 0,-1-1 0,1 1 0,-1-1 0,1 1 0,-1-1 0,1 1 0,-1-1 0,1 0 0,-1 1 0,1-1 0,-1 0 0,0 1 0,1-1 0,-2 1 0,-47 17 0,48-17 0,-28 8 0,5-1 0,-33 7 0,48-13 0,0-1 0,0 0 0,0-1 0,0 0 0,0 0 0,0-1 0,-14-3 0,-20-5 0,-48-3 0,85 11 0,-1-1 0,1 1 0,0-1 0,0-1 0,0 1 0,-8-5 0,8 4 0,-1-1 0,0 2 0,0-1 0,-10-2 0,14 5 0,0 0 0,-1 0 0,1 1 0,0-1 0,-1 1 0,1-1 0,0 1 0,-1 0 0,1 0 0,0 1 0,0-1 0,-5 4 0,6-4 0,1-1 0,-1 1 0,1 0 0,-1 0 0,0 1 0,1-1 0,0 0 0,-1 0 0,1 1 0,0-1 0,0 1 0,-1-1 0,1 1 0,1-1 0,-1 1 0,0 0 0,0 0 0,0-1 0,1 1 0,-1 0 0,1 0 0,0 0 0,-1 3 0,2-4 0,-1 0 0,1 1 0,-1-1 0,1 0 0,-1 0 0,1 0 0,0 0 0,0 0 0,-1 0 0,1 0 0,0 0 0,0 0 0,0 0 0,0 0 0,0 0 0,1-1 0,-1 1 0,0 0 0,0-1 0,2 1 0,28 9 0,-29-9 0,58 10 0,0-3 0,118 1 0,-93-6 0,440 4 0,-425-7 0,-61-7 0,-10 0 0,101-10 0,32-6 0,6-2 0,-166 24 0,-11 0 0,-25-1 0,6 1 0,-54-11 0,58 7 0,-1 1 0,-38 0 0,41 5 0,-1 2 0,1 1 0,0 1 0,-31 10 0,46-13 0,-3 2 0,-1 0 0,1 1 0,1 0 0,-1 1 0,-10 8 0,12-8 0,-1-1 0,1 1 0,-1-1 0,0-1 0,-1 0 0,-14 5 0,-137 19 0,83-13 0,77-15-45,1 0-1,-1 0 1,0 0-1,1 0 1,-1 0-1,1 0 1,-1-1-1,1 1 1,-1 0-1,0 0 1,1 0-1,-1-1 1,1 1-1,-1 0 1,1 0-1,-1-1 1,1 1-1,-1 0 1,1-1-1,0 1 1,-1-1-1,1 1 1,-1-1-1,1 1 0,0-1 1,-1 1-1,1-1 1,0 1-1,-1-2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6:48.7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24575,'1'0'0,"1"0"0,3 0 0,2 0 0,1 0 0,1 0 0,1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6:49.1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6:57.0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38 24498,'2287'0'0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7:08.3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2830 228 24575,'-13'-127'0,"13"126"0,0 0 0,0-1 0,0 1 0,-1 0 0,1-1 0,0 1 0,-1 0 0,1 0 0,-1-1 0,0 1 0,1 0 0,-1 0 0,0 0 0,0 0 0,1 0 0,-1 0 0,0 0 0,0 0 0,0 0 0,0 1 0,0-1 0,0 0 0,-1 0 0,1 1 0,0-1 0,0 1 0,0-1 0,-1 1 0,1 0 0,0-1 0,-1 1 0,1 0 0,-3 0 0,-7-1 0,1 1 0,-1 0 0,-16 2 0,4 0 0,16-2 0,0 0 0,0 1 0,0 0 0,1 1 0,-12 3 0,17-5 0,-1 0 0,1 1 0,-1-1 0,1 1 0,0-1 0,-1 1 0,1 0 0,0 0 0,0-1 0,-1 1 0,1 0 0,0 0 0,0 0 0,0 0 0,0 0 0,0 1 0,0-1 0,0 0 0,1 0 0,-1 1 0,0-1 0,1 0 0,-1 1 0,1-1 0,-1 0 0,1 1 0,0-1 0,0 1 0,-1-1 0,1 1 0,0-1 0,1 3 0,-1-3 0,0 0 0,1 0 0,-1-1 0,1 1 0,-1 0 0,1 0 0,0-1 0,-1 1 0,1 0 0,0-1 0,0 1 0,-1-1 0,1 1 0,0-1 0,0 1 0,0-1 0,-1 1 0,1-1 0,0 0 0,0 0 0,0 1 0,0-1 0,0 0 0,0 0 0,0 0 0,1 0 0,31 0 0,-24-1 0,15 0 0,-11 0 0,-1 0 0,1 1 0,-1 0 0,14 3 0,-26-3 0,0 0 0,0 0 0,1 0 0,-1 0 0,0 0 0,0 0 0,0 0 0,0 0 0,0 0 0,0 0 0,0 0 0,0 0 0,1 0 0,-1 0 0,0 1 0,0-1 0,0 0 0,0 0 0,0 0 0,0 0 0,0 0 0,0 0 0,0 0 0,0 0 0,1 0 0,-1 0 0,0 0 0,0 1 0,0-1 0,0 0 0,0 0 0,0 0 0,0 0 0,0 0 0,0 0 0,0 0 0,0 0 0,0 1 0,0-1 0,0 0 0,0 0 0,0 0 0,0 0 0,0 0 0,0 0 0,0 0 0,0 0 0,0 1 0,0-1 0,0 0 0,0 0 0,0 0 0,0 0 0,0 0 0,-1 0 0,1 0 0,0 0 0,0 0 0,0 1 0,-9 5 0,-10 4 0,10-6 0,0-1 0,0 0 0,-1-1 0,1 0 0,-1-1 0,1 1 0,-1-2 0,-16 0 0,-64-2 0,-235 4 0,130 4 0,197-9 0,14-5 0,20-6 0,54-17 0,104-31 0,-177 59 0,0 1 0,0 1 0,0 0 0,0 1 0,1 1 0,-1 1 0,22 4 0,6 1 0,-95-9 0,0 2 0,-55 7 0,-13 1 0,-24 2 0,51-4 0,61-6 0,1 2 0,-36 7 0,37-3 0,-132 33 0,126-31 0,0-1 0,-64 4 0,42-6 0,20-1 0,-70 5 0,18-8 0,-84-3 0,172 2 0,-1 0 0,1 0 0,0 0 0,0 0 0,-1 0 0,1 0 0,0 0 0,0 0 0,-1 0 0,1 0 0,0 0 0,0 0 0,-1 0 0,1 0 0,0 0 0,0 0 0,-1 0 0,1 0 0,0 0 0,0 0 0,0-1 0,-1 1 0,1 0 0,0 0 0,0 0 0,0 0 0,-1-1 0,1 1 0,0 0 0,0 0 0,0 0 0,0 0 0,-1-1 0,1 1 0,0 0 0,0 0 0,0-1 0,0 1 0,0 0 0,0 0 0,0-1 0,0 1 0,0 0 0,0 0 0,0-1 0,0 1 0,0 0 0,0 0 0,0-1 0,0 1 0,0 0 0,13-15 0,23-9 0,-28 21 0,0 0 0,1 0 0,-1 1 0,1 0 0,0 1 0,15-1 0,57 4 0,-28 0 0,70-2 0,-115-3 0,-13-1 0,-15-4 0,-156-20 0,130 25 0,-59 3 0,34 2 0,56-1 0,0 0 0,-1 2 0,-17 4 0,-14 3 0,-116 11 0,0-7 0,-178-7 0,327-10 0,13 3 0,1 0 0,0 0 0,0 0 0,0 0 0,0 0 0,0 0 0,0-1 0,-1 1 0,1 0 0,0 0 0,0 0 0,0 0 0,0 0 0,0-1 0,0 1 0,0 0 0,0 0 0,0 0 0,0 0 0,0 0 0,0-1 0,0 1 0,0 0 0,0 0 0,0 0 0,0 0 0,0-1 0,0 1 0,0 0 0,0 0 0,0 0 0,0 0 0,0-1 0,0 1 0,0 0 0,0 0 0,0 0 0,0 0 0,1-1 0,18-14 0,-8 6 0,-2 1 0,-1-1 0,-1 0 0,0 0 0,9-15 0,-9 13 0,0 0 0,17-18 0,-22 28 0,0-1 0,1 0 0,-1 1 0,1-1 0,0 1 0,0 0 0,-1 0 0,1 0 0,0 0 0,0 0 0,0 1 0,0-1 0,0 1 0,5 0 0,49 4 0,-38-2 0,123 19 0,-103-17 0,-44-4 0,1 1 0,-1 0 0,0 0 0,1 0 0,-9 4 0,-14 3 0,6-5 0,0-2 0,-26 0 0,-26 2 0,25 6 0,34-6 0,0-1 0,0 1 0,-16-1 0,-220-3 0,248 1 0,0 0 0,1 0 0,-1 0 0,1 1 0,-1-1 0,1 0 0,-1 0 0,1 1 0,-1-1 0,1 1 0,0 0 0,-1-1 0,-1 2 0,3-2 0,-1 1 0,1-1 0,-1 1 0,1-1 0,0 1 0,-1-1 0,1 1 0,0 0 0,-1-1 0,1 1 0,0-1 0,0 1 0,0 0 0,-1-1 0,1 1 0,0 0 0,0-1 0,0 1 0,0-1 0,0 1 0,0 1 0,2 3 0,-1-1 0,1 1 0,-1-1 0,1 1 0,1-1 0,3 7 0,4 9 0,-10-20 0,0 1 0,0-1 0,0 0 0,0 1 0,0-1 0,-1 0 0,1 1 0,0-1 0,0 0 0,-1 1 0,1-1 0,0 0 0,0 1 0,-1-1 0,1 0 0,0 0 0,-1 1 0,1-1 0,-1 0 0,1 0 0,0 0 0,-1 0 0,1 1 0,0-1 0,-1 0 0,1 0 0,-1 0 0,1 0 0,-1 0 0,1 0 0,0 0 0,-1 0 0,1 0 0,-1 0 0,0 0 0,-20 0 0,19 0 0,0-1 0,-26 0 0,21-2 0,17-2 0,43-11 0,107-17 0,-103 33-1365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7:49.5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88 24575,'0'-1'0,"1"0"0,-1 0 0,0 0 0,1 0 0,-1 1 0,1-1 0,-1 0 0,1 0 0,-1 1 0,1-1 0,0 0 0,-1 1 0,1-1 0,0 0 0,0 1 0,-1-1 0,1 1 0,0-1 0,0 1 0,0 0 0,0-1 0,0 1 0,-1 0 0,1-1 0,0 1 0,0 0 0,0 0 0,0 0 0,0 0 0,0 0 0,1 0 0,32 1 0,122 8 0,-130-9 0,0-1 0,-1-1 0,1-2 0,25-6 0,-20 0 0,-21 7 0,0 0 0,0 0 0,0 1 0,0 0 0,13 0 0,318 1 0,-157 2 0,-172 0 0,0 0 0,19 5 0,-22-4 0,1-1 0,-1 1 0,1-1 0,0-1 0,12 0 0,332-14 0,-352 14 0,11 0 0,0-2 0,19-3 0,25-4 0,322 26 0,-260-6 0,162-7 0,-258-7 0,0-1 0,24-6 0,-19 3 0,-3 1 0,-17 3 0,1 1 0,-1 0 0,1 1 0,13-1 0,69-6 0,-6 1 0,1 7-1365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7:55.46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8:02.13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2552 106 24575,'-4'0'0,"0"-1"0,0 0 0,0 0 0,0 0 0,0-1 0,-6-2 0,-15-5 0,-88-22 0,97 28 0,0 1 0,0 0 0,-1 1 0,1 0 0,-28 4 0,-5-2 0,-606-1 0,647 0 0,1-1 0,-1 0 0,1-1 0,-8-2 0,7 2 0,1 0 0,-1 1 0,-15-2 0,-163-4 0,-406 7 0,571-1 0,1-1 0,-30-7 0,29 5 0,1 0 0,-31 0 0,-16 2 0,20 1 0,-56 4 0,52 9 0,40-9 0,0 0 0,0-1 0,-20 2 0,21-3 0,-1 1 0,1 0 0,-13 4 0,-13 2 0,28-6 0,0 1 0,1-1 0,-1 1 0,1 1 0,-12 7 0,0-1 0,58-8 0,-13-1 0,39 6 0,1 1 0,-55-7-1365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8:03.43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6T22:56:49.54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2816 1,'-2783'0,"2751"0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6T22:56:53.361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3033 1,'-3004'0,"2976"0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6T23:07:06.227"/>
    </inkml:context>
    <inkml:brush xml:id="br0">
      <inkml:brushProperty name="width" value="0.4" units="cm"/>
      <inkml:brushProperty name="height" value="0.8" units="cm"/>
      <inkml:brushProperty name="color" value="#C2E498"/>
      <inkml:brushProperty name="tip" value="rectangle"/>
      <inkml:brushProperty name="rasterOp" value="maskPen"/>
      <inkml:brushProperty name="ignorePressure" value="1"/>
    </inkml:brush>
  </inkml:definitions>
  <inkml:trace contextRef="#ctx0" brushRef="#br0">2910 0,'-2875'0,"2841"0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6T23:07:27.358"/>
    </inkml:context>
    <inkml:brush xml:id="br0">
      <inkml:brushProperty name="width" value="0.4" units="cm"/>
      <inkml:brushProperty name="height" value="0.8" units="cm"/>
      <inkml:brushProperty name="color" value="#C2E498"/>
      <inkml:brushProperty name="tip" value="rectangle"/>
      <inkml:brushProperty name="rasterOp" value="maskPen"/>
      <inkml:brushProperty name="ignorePressure" value="1"/>
    </inkml:brush>
  </inkml:definitions>
  <inkml:trace contextRef="#ctx0" brushRef="#br0">3313 0,'-3281'0,"3249"0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6T23:07:58.546"/>
    </inkml:context>
    <inkml:brush xml:id="br0">
      <inkml:brushProperty name="width" value="0.4" units="cm"/>
      <inkml:brushProperty name="height" value="0.8" units="cm"/>
      <inkml:brushProperty name="color" value="#FFBAAF"/>
      <inkml:brushProperty name="tip" value="rectangle"/>
      <inkml:brushProperty name="rasterOp" value="maskPen"/>
      <inkml:brushProperty name="ignorePressure" value="1"/>
    </inkml:brush>
  </inkml:definitions>
  <inkml:trace contextRef="#ctx0" brushRef="#br0">2741 0,'-2709'0,"2678"0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6T23:08:59.688"/>
    </inkml:context>
    <inkml:brush xml:id="br0">
      <inkml:brushProperty name="width" value="0.4" units="cm"/>
      <inkml:brushProperty name="height" value="0.8" units="cm"/>
      <inkml:brushProperty name="color" value="#C2E498"/>
      <inkml:brushProperty name="tip" value="rectangle"/>
      <inkml:brushProperty name="rasterOp" value="maskPen"/>
      <inkml:brushProperty name="ignorePressure" value="1"/>
    </inkml:brush>
  </inkml:definitions>
  <inkml:trace contextRef="#ctx0" brushRef="#br0">2937 0,'-2901'0,"2866"0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6T23:09:32.678"/>
    </inkml:context>
    <inkml:brush xml:id="br0">
      <inkml:brushProperty name="width" value="0.4" units="cm"/>
      <inkml:brushProperty name="height" value="0.8" units="cm"/>
      <inkml:brushProperty name="color" value="#C2E498"/>
      <inkml:brushProperty name="tip" value="rectangle"/>
      <inkml:brushProperty name="rasterOp" value="maskPen"/>
      <inkml:brushProperty name="ignorePressure" value="1"/>
    </inkml:brush>
  </inkml:definitions>
  <inkml:trace contextRef="#ctx0" brushRef="#br0">3000 0,'-2978'0,"2957"0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EBDFA-9FEC-40F3-8C3C-C784C3F685F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0F0E5-45CD-4928-B254-6F8F646F9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22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3A004-F18B-4D9C-8A7E-29E6ED8590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99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recent years we’ve seen more attention on wildfires in Canada. both because of the direct fire damage and also smoke and air quality impacts.</a:t>
            </a:r>
          </a:p>
          <a:p>
            <a:endParaRPr lang="en-US" dirty="0"/>
          </a:p>
          <a:p>
            <a:r>
              <a:rPr lang="en-US" dirty="0"/>
              <a:t>Operationally, agencies often use indices like the </a:t>
            </a:r>
            <a:r>
              <a:rPr lang="en-US" b="1" dirty="0"/>
              <a:t>Fire Weather Index, or FWI</a:t>
            </a:r>
            <a:r>
              <a:rPr lang="en-US" dirty="0"/>
              <a:t>, to monitor and forecast fire danger during the season.</a:t>
            </a:r>
          </a:p>
          <a:p>
            <a:r>
              <a:rPr lang="en-US" dirty="0"/>
              <a:t>As you know, acting fast and preparation for this such event can reduce the damage </a:t>
            </a:r>
          </a:p>
          <a:p>
            <a:endParaRPr lang="en-US" dirty="0"/>
          </a:p>
          <a:p>
            <a:r>
              <a:rPr lang="en-US" dirty="0"/>
              <a:t>What is less clear is:</a:t>
            </a:r>
          </a:p>
          <a:p>
            <a:r>
              <a:rPr lang="en-US" b="1" dirty="0"/>
              <a:t>Can we use information from </a:t>
            </a:r>
            <a:r>
              <a:rPr lang="en-US" b="1" i="1" dirty="0"/>
              <a:t>before</a:t>
            </a:r>
            <a:r>
              <a:rPr lang="en-US" b="1" dirty="0"/>
              <a:t> the fire season, especially spring, to say something about how bad the summer fire weather might be?</a:t>
            </a:r>
            <a:endParaRPr lang="en-US" dirty="0"/>
          </a:p>
          <a:p>
            <a:r>
              <a:rPr lang="en-US" dirty="0"/>
              <a:t>So the main </a:t>
            </a:r>
            <a:r>
              <a:rPr lang="en-US" b="1" dirty="0"/>
              <a:t>research question</a:t>
            </a:r>
            <a:r>
              <a:rPr lang="en-US" dirty="0"/>
              <a:t> in this project is:</a:t>
            </a:r>
          </a:p>
          <a:p>
            <a:r>
              <a:rPr lang="en-US" i="1" dirty="0"/>
              <a:t>Do preseason conditions in March–May—temperature, humidity, wind, precipitation, and ENSO—contain useful predictive information about high FWI days in June–August?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0F0E5-45CD-4928-B254-6F8F646F940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43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0F0E5-45CD-4928-B254-6F8F646F94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38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0F0E5-45CD-4928-B254-6F8F646F94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79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0F0E5-45CD-4928-B254-6F8F646F940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404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0F0E5-45CD-4928-B254-6F8F646F940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15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0F0E5-45CD-4928-B254-6F8F646F940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7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5479F-5C4B-08AB-DF5C-3662FA1ED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6E5E75-9B31-0F2D-8674-60FC03225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6694C-8BDF-A622-D3D0-BB02E21D4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E736-6C3D-415A-A3AE-1B6494DB089B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078F-56B9-101A-074F-010277FE4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B2FF7-A4B6-B21B-0147-07C605B2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9FD6-1021-4C3A-93E7-95CE4942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78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5375D-D63A-575C-512B-413320959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C4CC0-4D45-2FF4-F637-675D21CF9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AC8AC-8C19-3A0C-0118-65049BBE4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05073-EA4C-4A24-9ACD-462AA44C9389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29FCF-E268-2622-D910-1A7591748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BB967-9BC6-F1CD-0F45-C52C08C9B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9FD6-1021-4C3A-93E7-95CE4942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10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8FD88-F730-D37B-7C1C-5575EC2D8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418F0-0DAF-68B9-5512-149033E3A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E13A6-9E13-778C-1707-52CD9A3AD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0992-9329-400A-8368-2EBFC4A83CE5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4F5AA-0F29-E2CE-B4BB-8668B4686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9BDCD-3DBC-3F9D-DCD0-8B7A154E5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9FD6-1021-4C3A-93E7-95CE4942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0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AB0F9-D1B0-1D58-B74D-E23FBD0B3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14CA0-6EAE-D6E7-19B0-8F178773B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12615-1598-A028-C2C9-99F5ACDB9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58406-2653-AA50-D5DB-5DC0263AD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E6FA3-EA82-41C5-B02E-5AA004466E12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9E6B0-E96D-51C7-8D08-2F86D2516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E773A-F53B-C164-4666-E29380AB3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9FD6-1021-4C3A-93E7-95CE4942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12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9C779-D60D-9D9F-6436-0188CADE3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BF45B-83D2-CD74-9D70-AC6BEB7CA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5EDEC-2FB7-3ACA-D2AE-FA3BAA8BA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1E9CC4-58EA-AA16-D415-1EBAD5ED3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A40BBC-4610-6F30-EDD6-76A7E99796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37F158-D264-74E6-6E6B-3F61538B1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A1E6B-6B20-47E5-B73F-FAAC68B50B3F}" type="datetime1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CFAFE6-6F3D-2C17-9904-3791BB5C1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C78B3F-7D32-4B7D-3887-AD370900B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9FD6-1021-4C3A-93E7-95CE4942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86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C48AE-C341-1450-C669-EA9E753E7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D48F91-839A-61B0-5D80-B3E3E1E97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CDAB-77F3-4FB4-884E-835DC65F1609}" type="datetime1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1D6AE0-2CB7-146D-BC6A-887772B3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FE91C-5E94-59D7-290F-DCFBB041D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9FD6-1021-4C3A-93E7-95CE4942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4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597B64-E35E-494A-8CAC-C5264903D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E567-7D4B-41B7-BA4E-FFE8A1F5992B}" type="datetime1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30C0E4-3185-F399-85CA-54818F7A7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751F6-890B-E5D0-9823-FC1D1A95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9FD6-1021-4C3A-93E7-95CE4942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07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8668F-B456-E1BE-2079-B629B1261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2FABB-8013-2226-E073-8198A6DC1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DAC88-D26C-CE97-E563-69532F6B9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C0A93-E5BB-0A9B-BD0E-C118B194B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16089-BCBE-4735-B1D5-F7C545681197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2693D-B87B-30C0-A500-10BBDAA44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EB7A1-1159-3E85-6EAC-E0A4335E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9FD6-1021-4C3A-93E7-95CE4942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75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CCDAF-4C71-6429-F2DB-E1CDF4CD0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11357-1B90-804F-19CB-3068749BC7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3527C-2C73-F430-4B6E-113ACAB93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1177D-7FA6-BE76-7136-474AA5A5C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3F94-3857-4208-A2E1-5DA074E04767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6DE6C-D3FC-56AB-CB79-B40D07D9F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68189B-4145-49AD-C0BB-ED2C8B22B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9FD6-1021-4C3A-93E7-95CE4942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96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1E77F-D61D-4E86-BF1B-412F9831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8186CF-9E51-4327-F815-A0DE95F66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4758E-4DBB-68AD-4887-E0BED4DB7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3A20-3191-4050-A785-840FC8A3C230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C1A7C-D2A4-F79A-0CC3-8BC201638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170D3-5BFD-5D7E-1B13-A440CC5D7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9FD6-1021-4C3A-93E7-95CE4942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827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03B7FC-BFC6-011A-B590-73CEA8489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1ACDA8-BF2C-193B-EA77-EDEC82785A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55257-14FB-9AA4-D56C-CC1037E4D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69606-EBAD-45F9-8C11-CD5F8EE9F17B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FC824-142E-423D-6877-11A4A3676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F51C8-BB49-467F-D9AE-2ADC95C8E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9FD6-1021-4C3A-93E7-95CE4942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83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0E988D-09B8-FF0B-091E-68AEB25BB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80A41-BE6E-5DFE-525A-7F9FC9C44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ABF22-52BA-FA1B-9819-3509FAE6D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27C857-09FD-429D-9E43-003EC6A8FFA4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92DC8-917A-3D77-27DF-92F37183F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7AD22-569B-9220-59ED-CA31930260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C69FD6-1021-4C3A-93E7-95CE4942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90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4.png"/><Relationship Id="rId26" Type="http://schemas.openxmlformats.org/officeDocument/2006/relationships/customXml" Target="../ink/ink13.xml"/><Relationship Id="rId39" Type="http://schemas.openxmlformats.org/officeDocument/2006/relationships/customXml" Target="../ink/ink20.xml"/><Relationship Id="rId21" Type="http://schemas.openxmlformats.org/officeDocument/2006/relationships/customXml" Target="../ink/ink9.xml"/><Relationship Id="rId34" Type="http://schemas.openxmlformats.org/officeDocument/2006/relationships/image" Target="../media/image19.png"/><Relationship Id="rId7" Type="http://schemas.openxmlformats.org/officeDocument/2006/relationships/image" Target="../media/image9.png"/><Relationship Id="rId12" Type="http://schemas.openxmlformats.org/officeDocument/2006/relationships/customXml" Target="../ink/ink3.xml"/><Relationship Id="rId17" Type="http://schemas.openxmlformats.org/officeDocument/2006/relationships/customXml" Target="../ink/ink6.xml"/><Relationship Id="rId25" Type="http://schemas.openxmlformats.org/officeDocument/2006/relationships/image" Target="../media/image15.png"/><Relationship Id="rId33" Type="http://schemas.openxmlformats.org/officeDocument/2006/relationships/customXml" Target="../ink/ink17.xml"/><Relationship Id="rId38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3.png"/><Relationship Id="rId20" Type="http://schemas.openxmlformats.org/officeDocument/2006/relationships/customXml" Target="../ink/ink8.xml"/><Relationship Id="rId29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1.png"/><Relationship Id="rId24" Type="http://schemas.openxmlformats.org/officeDocument/2006/relationships/customXml" Target="../ink/ink12.xml"/><Relationship Id="rId32" Type="http://schemas.openxmlformats.org/officeDocument/2006/relationships/image" Target="../media/image18.png"/><Relationship Id="rId37" Type="http://schemas.openxmlformats.org/officeDocument/2006/relationships/customXml" Target="../ink/ink19.xml"/><Relationship Id="rId5" Type="http://schemas.openxmlformats.org/officeDocument/2006/relationships/image" Target="../media/image7.png"/><Relationship Id="rId15" Type="http://schemas.openxmlformats.org/officeDocument/2006/relationships/customXml" Target="../ink/ink5.xml"/><Relationship Id="rId23" Type="http://schemas.openxmlformats.org/officeDocument/2006/relationships/customXml" Target="../ink/ink11.xml"/><Relationship Id="rId28" Type="http://schemas.openxmlformats.org/officeDocument/2006/relationships/customXml" Target="../ink/ink14.xml"/><Relationship Id="rId36" Type="http://schemas.openxmlformats.org/officeDocument/2006/relationships/image" Target="../media/image20.png"/><Relationship Id="rId10" Type="http://schemas.openxmlformats.org/officeDocument/2006/relationships/customXml" Target="../ink/ink2.xml"/><Relationship Id="rId19" Type="http://schemas.openxmlformats.org/officeDocument/2006/relationships/customXml" Target="../ink/ink7.xml"/><Relationship Id="rId31" Type="http://schemas.openxmlformats.org/officeDocument/2006/relationships/customXml" Target="../ink/ink16.xml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customXml" Target="../ink/ink4.xml"/><Relationship Id="rId22" Type="http://schemas.openxmlformats.org/officeDocument/2006/relationships/customXml" Target="../ink/ink10.xml"/><Relationship Id="rId27" Type="http://schemas.openxmlformats.org/officeDocument/2006/relationships/image" Target="../media/image16.png"/><Relationship Id="rId30" Type="http://schemas.openxmlformats.org/officeDocument/2006/relationships/image" Target="../media/image17.png"/><Relationship Id="rId35" Type="http://schemas.openxmlformats.org/officeDocument/2006/relationships/customXml" Target="../ink/ink18.xml"/><Relationship Id="rId8" Type="http://schemas.openxmlformats.org/officeDocument/2006/relationships/customXml" Target="../ink/ink1.xml"/><Relationship Id="rId3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22.png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2.png"/><Relationship Id="rId9" Type="http://schemas.microsoft.com/office/2007/relationships/diagramDrawing" Target="../diagrams/drawin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.xml"/><Relationship Id="rId5" Type="http://schemas.openxmlformats.org/officeDocument/2006/relationships/image" Target="../media/image24.png"/><Relationship Id="rId4" Type="http://schemas.openxmlformats.org/officeDocument/2006/relationships/customXml" Target="../ink/ink2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customXml" Target="../ink/ink27.xml"/><Relationship Id="rId3" Type="http://schemas.openxmlformats.org/officeDocument/2006/relationships/image" Target="../media/image2.png"/><Relationship Id="rId7" Type="http://schemas.openxmlformats.org/officeDocument/2006/relationships/customXml" Target="../ink/ink24.xml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customXml" Target="../ink/ink26.xml"/><Relationship Id="rId5" Type="http://schemas.openxmlformats.org/officeDocument/2006/relationships/customXml" Target="../ink/ink23.xml"/><Relationship Id="rId10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customXml" Target="../ink/ink25.xml"/><Relationship Id="rId1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38/s44304-025-00126-y" TargetMode="External"/><Relationship Id="rId3" Type="http://schemas.openxmlformats.org/officeDocument/2006/relationships/hyperlink" Target="https://doi.org/10.1038/sdata.2019.32" TargetMode="External"/><Relationship Id="rId7" Type="http://schemas.openxmlformats.org/officeDocument/2006/relationships/hyperlink" Target="https://www.sciencedirect.com/science/article/pii/S2405880716300826?utm_source=chatgpt.com" TargetMode="External"/><Relationship Id="rId2" Type="http://schemas.openxmlformats.org/officeDocument/2006/relationships/hyperlink" Target="https://cwfis.cfs.nrcan.gc.ca/background/summary/fw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6/j.cliser.2017.04.001" TargetMode="External"/><Relationship Id="rId5" Type="http://schemas.openxmlformats.org/officeDocument/2006/relationships/hyperlink" Target="https://www.nature.com/articles/s41597-024-02948-3?utm_source=chatgpt.com" TargetMode="External"/><Relationship Id="rId10" Type="http://schemas.openxmlformats.org/officeDocument/2006/relationships/image" Target="../media/image2.png"/><Relationship Id="rId4" Type="http://schemas.openxmlformats.org/officeDocument/2006/relationships/hyperlink" Target="https://doi.org/10.1038/s41597-024-02948-3" TargetMode="External"/><Relationship Id="rId9" Type="http://schemas.openxmlformats.org/officeDocument/2006/relationships/hyperlink" Target="https://www.nature.com/articles/s44304-025-00126-y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yellow logo&#10;&#10;AI-generated content may be incorrect.">
            <a:extLst>
              <a:ext uri="{FF2B5EF4-FFF2-40B4-BE49-F238E27FC236}">
                <a16:creationId xmlns:a16="http://schemas.microsoft.com/office/drawing/2014/main" id="{16F3A7AD-19FF-3B74-2F11-C928CCCFE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DA98E8-6F0B-56CA-43ED-ADDC50CEE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287" y="2128203"/>
            <a:ext cx="9987425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Preseason Climate Controls on Summer Fire Weather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 in Manitoba</a:t>
            </a:r>
            <a:br>
              <a:rPr lang="en-US" dirty="0"/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2ED133-B5EE-2820-7971-2186274C4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1" y="5120641"/>
            <a:ext cx="4517136" cy="136245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Niloofar Raeispour</a:t>
            </a:r>
          </a:p>
          <a:p>
            <a:pPr algn="l"/>
            <a:r>
              <a:rPr lang="en-US" b="1" dirty="0">
                <a:solidFill>
                  <a:schemeClr val="bg1"/>
                </a:solidFill>
              </a:rPr>
              <a:t>Instructor: Dr. Donghoon Lee</a:t>
            </a:r>
          </a:p>
          <a:p>
            <a:pPr algn="l"/>
            <a:r>
              <a:rPr lang="en-US" b="1" dirty="0">
                <a:solidFill>
                  <a:schemeClr val="bg1"/>
                </a:solidFill>
              </a:rPr>
              <a:t>CIVL-7740-T05 Course Project</a:t>
            </a:r>
          </a:p>
          <a:p>
            <a:pPr algn="l"/>
            <a:r>
              <a:rPr lang="en-US" b="1" dirty="0">
                <a:solidFill>
                  <a:schemeClr val="bg1"/>
                </a:solidFill>
              </a:rPr>
              <a:t>Fall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8899D-343E-B563-D6C8-895C3B07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9FD6-1021-4C3A-93E7-95CE494206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404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F60F6-BC1F-E200-F021-3796B183F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12F6B"/>
                </a:solidFill>
              </a:rPr>
              <a:t>Background and Objectives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FBC0A82-3E16-5451-54C7-E97EBECD91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8155139"/>
              </p:ext>
            </p:extLst>
          </p:nvPr>
        </p:nvGraphicFramePr>
        <p:xfrm>
          <a:off x="-1654628" y="184785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5340BA8-E37D-D3E1-1AA7-30E640FC68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12573" y="545637"/>
            <a:ext cx="1295585" cy="96453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A3B645-3D22-B690-C4FB-D865F1AFE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38753"/>
            <a:ext cx="2743200" cy="365125"/>
          </a:xfrm>
        </p:spPr>
        <p:txBody>
          <a:bodyPr/>
          <a:lstStyle/>
          <a:p>
            <a:fld id="{A8C69FD6-1021-4C3A-93E7-95CE4942064D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3F9AB5-F1BD-A381-CDF4-91249D6F00E6}"/>
              </a:ext>
            </a:extLst>
          </p:cNvPr>
          <p:cNvSpPr txBox="1"/>
          <p:nvPr/>
        </p:nvSpPr>
        <p:spPr>
          <a:xfrm>
            <a:off x="7120127" y="5784208"/>
            <a:ext cx="37586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Figure1 :Manitoba, Canada. 27 May 2025</a:t>
            </a:r>
          </a:p>
        </p:txBody>
      </p:sp>
      <p:pic>
        <p:nvPicPr>
          <p:cNvPr id="1027" name="Picture 3" descr="A wildfire burns near Wanless in Manitoba, Canada on 27 May.">
            <a:extLst>
              <a:ext uri="{FF2B5EF4-FFF2-40B4-BE49-F238E27FC236}">
                <a16:creationId xmlns:a16="http://schemas.microsoft.com/office/drawing/2014/main" id="{B37BE019-AD4B-04F8-AF3E-3D88FB8F2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0127" y="1847850"/>
            <a:ext cx="4951476" cy="3859933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67BFE2-E06A-6429-2BE2-2F11D8AC1A6E}"/>
              </a:ext>
            </a:extLst>
          </p:cNvPr>
          <p:cNvSpPr txBox="1"/>
          <p:nvPr/>
        </p:nvSpPr>
        <p:spPr>
          <a:xfrm>
            <a:off x="7127776" y="5998614"/>
            <a:ext cx="2225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https://www.theguardian.com</a:t>
            </a:r>
          </a:p>
        </p:txBody>
      </p:sp>
    </p:spTree>
    <p:extLst>
      <p:ext uri="{BB962C8B-B14F-4D97-AF65-F5344CB8AC3E}">
        <p14:creationId xmlns:p14="http://schemas.microsoft.com/office/powerpoint/2010/main" val="2352817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B7FEC-4824-428D-651A-63B367857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2E22-35D4-C8E5-D2B6-0621A8B7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12F6B"/>
                </a:solidFill>
              </a:rPr>
              <a:t>Datasets and Variables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45E218-9EA4-12B8-232D-A0DD5087A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2573" y="545637"/>
            <a:ext cx="1295585" cy="96453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7D6924-60C2-C676-E61A-944E68A85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4984" y="6310312"/>
            <a:ext cx="2743200" cy="365125"/>
          </a:xfrm>
        </p:spPr>
        <p:txBody>
          <a:bodyPr/>
          <a:lstStyle/>
          <a:p>
            <a:fld id="{A8C69FD6-1021-4C3A-93E7-95CE4942064D}" type="slidenum">
              <a:rPr lang="en-US" smtClean="0"/>
              <a:t>3</a:t>
            </a:fld>
            <a:endParaRPr lang="en-US" dirty="0"/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319FE330-E0D0-0D6C-5018-17C339F94C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7888993"/>
              </p:ext>
            </p:extLst>
          </p:nvPr>
        </p:nvGraphicFramePr>
        <p:xfrm>
          <a:off x="182618" y="1682956"/>
          <a:ext cx="7306318" cy="4718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47273986-573B-F965-D44D-9001CD2B66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0756" y="1682956"/>
            <a:ext cx="4448626" cy="3730292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B02515-C2FF-1873-564F-35611A1CEC39}"/>
              </a:ext>
            </a:extLst>
          </p:cNvPr>
          <p:cNvSpPr txBox="1"/>
          <p:nvPr/>
        </p:nvSpPr>
        <p:spPr>
          <a:xfrm>
            <a:off x="7560756" y="5413248"/>
            <a:ext cx="336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Figure 2: Manitoba Weather Stations</a:t>
            </a:r>
          </a:p>
        </p:txBody>
      </p:sp>
    </p:spTree>
    <p:extLst>
      <p:ext uri="{BB962C8B-B14F-4D97-AF65-F5344CB8AC3E}">
        <p14:creationId xmlns:p14="http://schemas.microsoft.com/office/powerpoint/2010/main" val="35971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B261E-814A-7BA1-F813-AA32446A0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38646-BACF-F5A0-76E0-64D47A928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12F6B"/>
                </a:solidFill>
              </a:rPr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00E5B-12FB-CAE8-F389-5E395E91E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500" y="2561440"/>
            <a:ext cx="9980999" cy="4242815"/>
          </a:xfrm>
        </p:spPr>
        <p:txBody>
          <a:bodyPr numCol="2" spcCol="457200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Pre-processing</a:t>
            </a:r>
            <a:endParaRPr lang="en-US" sz="2000" dirty="0"/>
          </a:p>
          <a:p>
            <a:r>
              <a:rPr lang="en-US" sz="1800" dirty="0"/>
              <a:t>Performed quality control by removing incomplete records and years with substantial missing data.</a:t>
            </a:r>
          </a:p>
          <a:p>
            <a:r>
              <a:rPr lang="en-US" sz="1800" dirty="0"/>
              <a:t>Aggregated daily values to </a:t>
            </a:r>
            <a:r>
              <a:rPr lang="en-US" sz="1800" b="1" dirty="0"/>
              <a:t>seasonal means </a:t>
            </a:r>
            <a:r>
              <a:rPr lang="en-US" sz="1800" dirty="0"/>
              <a:t>for each </a:t>
            </a:r>
            <a:r>
              <a:rPr lang="en-US" sz="1800" b="1" dirty="0"/>
              <a:t>station</a:t>
            </a:r>
            <a:r>
              <a:rPr lang="en-US" sz="1800" dirty="0"/>
              <a:t> and </a:t>
            </a:r>
            <a:r>
              <a:rPr lang="en-US" sz="1800" b="1" dirty="0"/>
              <a:t>year</a:t>
            </a:r>
            <a:r>
              <a:rPr lang="en-US" sz="1800" dirty="0"/>
              <a:t>:</a:t>
            </a:r>
          </a:p>
          <a:p>
            <a:pPr lvl="1"/>
            <a:r>
              <a:rPr lang="en-US" sz="1800" dirty="0"/>
              <a:t>Spring: March-April-May (MAM)</a:t>
            </a:r>
          </a:p>
          <a:p>
            <a:pPr lvl="1"/>
            <a:r>
              <a:rPr lang="en-US" sz="1800" dirty="0"/>
              <a:t>Summer: June-July-August (JJA)</a:t>
            </a:r>
          </a:p>
          <a:p>
            <a:r>
              <a:rPr lang="en-US" sz="1800" dirty="0"/>
              <a:t>Converted continuous seasonal FWI into categorical fire-danger classes using predefined FWI thresholds </a:t>
            </a:r>
            <a:r>
              <a:rPr lang="en-US" sz="1600" dirty="0"/>
              <a:t>(“High” if FWI &gt; 20).</a:t>
            </a:r>
            <a:endParaRPr lang="en-US" sz="1800" dirty="0"/>
          </a:p>
          <a:p>
            <a:endParaRPr lang="en-US" sz="1800" b="1" dirty="0"/>
          </a:p>
          <a:p>
            <a:endParaRPr lang="en-US" sz="18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Analysis and modelling</a:t>
            </a:r>
            <a:endParaRPr lang="en-US" sz="2000" dirty="0"/>
          </a:p>
          <a:p>
            <a:r>
              <a:rPr lang="en-US" sz="1800" dirty="0"/>
              <a:t>Quantified relationships between seasonal FWI and predictors using correlation analysis.</a:t>
            </a:r>
          </a:p>
          <a:p>
            <a:r>
              <a:rPr lang="en-US" sz="1800" dirty="0"/>
              <a:t>Split the data into training and test sets using 2010 as the cutoff year</a:t>
            </a:r>
          </a:p>
          <a:p>
            <a:r>
              <a:rPr lang="en-US" sz="1800" dirty="0"/>
              <a:t>Developed and compared four classification models for seasonal FWI classes:</a:t>
            </a:r>
          </a:p>
          <a:p>
            <a:pPr lvl="1"/>
            <a:r>
              <a:rPr lang="en-US" sz="1800" dirty="0"/>
              <a:t>Dummy Stratified Classifier</a:t>
            </a:r>
          </a:p>
          <a:p>
            <a:pPr lvl="1"/>
            <a:r>
              <a:rPr lang="en-US" sz="1800" dirty="0"/>
              <a:t>Logistic Regression</a:t>
            </a:r>
          </a:p>
          <a:p>
            <a:pPr lvl="1"/>
            <a:r>
              <a:rPr lang="en-US" sz="1800" dirty="0"/>
              <a:t>Random Forest Classifier</a:t>
            </a:r>
          </a:p>
          <a:p>
            <a:pPr lvl="1"/>
            <a:r>
              <a:rPr lang="en-US" sz="1800" dirty="0"/>
              <a:t>Gradient Boosting Classifier</a:t>
            </a:r>
          </a:p>
          <a:p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B1206E-4B07-C4C5-7703-E1098D86A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2573" y="545637"/>
            <a:ext cx="1295585" cy="96453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BDD8C-204D-CCCF-D198-76BA901E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9FD6-1021-4C3A-93E7-95CE4942064D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1943E623-C660-D3FC-7BE9-472C51FD87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8864131"/>
              </p:ext>
            </p:extLst>
          </p:nvPr>
        </p:nvGraphicFramePr>
        <p:xfrm>
          <a:off x="1105499" y="1510174"/>
          <a:ext cx="9980999" cy="713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4447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16887-A932-D927-1F85-EAE958D17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3CF24B45-0219-EA4D-3ED9-89AEAF53A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60" y="1920866"/>
            <a:ext cx="10972822" cy="45720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F9322B-E682-F57D-3C8C-951BF18FC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12F6B"/>
                </a:solidFill>
              </a:rPr>
              <a:t>Timeseries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C4882-7AE0-1664-4119-864A73241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2573" y="545637"/>
            <a:ext cx="1295585" cy="96453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05B58-F0FF-E61B-EAB1-A05687467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9FD6-1021-4C3A-93E7-95CE4942064D}" type="slidenum">
              <a:rPr lang="en-US" smtClean="0"/>
              <a:t>5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8DFC03C-EF5D-A963-D0F3-E45AAE9C2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11" y="1546234"/>
            <a:ext cx="10515600" cy="4351338"/>
          </a:xfrm>
        </p:spPr>
        <p:txBody>
          <a:bodyPr/>
          <a:lstStyle/>
          <a:p>
            <a:r>
              <a:rPr lang="en-US" dirty="0"/>
              <a:t>FWI: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C00C6B-56BC-D15A-2F07-7F7ACCDF61F3}"/>
              </a:ext>
            </a:extLst>
          </p:cNvPr>
          <p:cNvSpPr txBox="1"/>
          <p:nvPr/>
        </p:nvSpPr>
        <p:spPr>
          <a:xfrm>
            <a:off x="838200" y="6298965"/>
            <a:ext cx="31234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Figure 3: Summer FWI Timeseries</a:t>
            </a:r>
          </a:p>
        </p:txBody>
      </p:sp>
    </p:spTree>
    <p:extLst>
      <p:ext uri="{BB962C8B-B14F-4D97-AF65-F5344CB8AC3E}">
        <p14:creationId xmlns:p14="http://schemas.microsoft.com/office/powerpoint/2010/main" val="348436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47246-7430-599C-43BE-6D0D17AE7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317D5-FE1A-626B-C157-F1EFCA612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12F6B"/>
                </a:solidFill>
              </a:rPr>
              <a:t>Timeseries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505062-2FA9-2675-D9EB-FD73A2B1A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2573" y="545637"/>
            <a:ext cx="1295585" cy="96453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7E529-CFFF-8755-CE18-DFF0E3C8B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9FD6-1021-4C3A-93E7-95CE4942064D}" type="slidenum">
              <a:rPr lang="en-US" smtClean="0"/>
              <a:t>6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F153F20-C032-92F3-EB81-34AB20AA0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11" y="1546234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1" name="Picture 10" descr="A graph with blue lines and a red line&#10;&#10;AI-generated content may be incorrect.">
            <a:extLst>
              <a:ext uri="{FF2B5EF4-FFF2-40B4-BE49-F238E27FC236}">
                <a16:creationId xmlns:a16="http://schemas.microsoft.com/office/drawing/2014/main" id="{2FBA5B92-D139-172F-1DAD-6314CA8851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58" y="1359297"/>
            <a:ext cx="5173557" cy="2586778"/>
          </a:xfrm>
          <a:prstGeom prst="rect">
            <a:avLst/>
          </a:prstGeom>
        </p:spPr>
      </p:pic>
      <p:pic>
        <p:nvPicPr>
          <p:cNvPr id="14" name="Picture 13" descr="A graph with blue lines and red lines&#10;&#10;AI-generated content may be incorrect.">
            <a:extLst>
              <a:ext uri="{FF2B5EF4-FFF2-40B4-BE49-F238E27FC236}">
                <a16:creationId xmlns:a16="http://schemas.microsoft.com/office/drawing/2014/main" id="{5EE5B4BA-1A3D-0778-95CD-6333C6CFC5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999" y="1359297"/>
            <a:ext cx="5173557" cy="2586778"/>
          </a:xfrm>
          <a:prstGeom prst="rect">
            <a:avLst/>
          </a:prstGeom>
        </p:spPr>
      </p:pic>
      <p:pic>
        <p:nvPicPr>
          <p:cNvPr id="17" name="Picture 16" descr="A graph with blue lines and black text&#10;&#10;AI-generated content may be incorrect.">
            <a:extLst>
              <a:ext uri="{FF2B5EF4-FFF2-40B4-BE49-F238E27FC236}">
                <a16:creationId xmlns:a16="http://schemas.microsoft.com/office/drawing/2014/main" id="{5AA48467-4A72-B7BA-10A9-2A7A82DB4D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52" y="3952133"/>
            <a:ext cx="5173559" cy="2586779"/>
          </a:xfrm>
          <a:prstGeom prst="rect">
            <a:avLst/>
          </a:prstGeom>
        </p:spPr>
      </p:pic>
      <p:pic>
        <p:nvPicPr>
          <p:cNvPr id="19" name="Picture 18" descr="A graph with blue and red lines&#10;&#10;AI-generated content may be incorrect.">
            <a:extLst>
              <a:ext uri="{FF2B5EF4-FFF2-40B4-BE49-F238E27FC236}">
                <a16:creationId xmlns:a16="http://schemas.microsoft.com/office/drawing/2014/main" id="{AEB73723-0914-C596-8AFA-27974A4BAB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052" y="3857337"/>
            <a:ext cx="5175504" cy="25877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14A005E-3380-373D-2E90-E1444C139578}"/>
                  </a:ext>
                </a:extLst>
              </p14:cNvPr>
              <p14:cNvContentPartPr/>
              <p14:nvPr/>
            </p14:nvContentPartPr>
            <p14:xfrm>
              <a:off x="3337336" y="1419564"/>
              <a:ext cx="1020960" cy="759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14A005E-3380-373D-2E90-E1444C13957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19336" y="1401924"/>
                <a:ext cx="105660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C338F27-731F-01B7-2ECF-679F70E295C7}"/>
                  </a:ext>
                </a:extLst>
              </p14:cNvPr>
              <p14:cNvContentPartPr/>
              <p14:nvPr/>
            </p14:nvContentPartPr>
            <p14:xfrm>
              <a:off x="3327976" y="1485444"/>
              <a:ext cx="104112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C338F27-731F-01B7-2ECF-679F70E295C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10336" y="1467444"/>
                <a:ext cx="10767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DC60A4C-BE98-A88E-CEFF-FCA156E89596}"/>
                  </a:ext>
                </a:extLst>
              </p14:cNvPr>
              <p14:cNvContentPartPr/>
              <p14:nvPr/>
            </p14:nvContentPartPr>
            <p14:xfrm>
              <a:off x="3346336" y="1506324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DC60A4C-BE98-A88E-CEFF-FCA156E8959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28696" y="148832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1C302E1-AAD7-0879-6658-6AC3C8DC47B4}"/>
                  </a:ext>
                </a:extLst>
              </p14:cNvPr>
              <p14:cNvContentPartPr/>
              <p14:nvPr/>
            </p14:nvContentPartPr>
            <p14:xfrm>
              <a:off x="4348576" y="1510644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1C302E1-AAD7-0879-6658-6AC3C8DC47B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30576" y="149300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FAE903B-83C1-F518-C2ED-FBC1AEBB6606}"/>
                  </a:ext>
                </a:extLst>
              </p14:cNvPr>
              <p14:cNvContentPartPr/>
              <p14:nvPr/>
            </p14:nvContentPartPr>
            <p14:xfrm>
              <a:off x="8800218" y="1357638"/>
              <a:ext cx="1098720" cy="1468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FAE903B-83C1-F518-C2ED-FBC1AEBB660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782218" y="1339638"/>
                <a:ext cx="1134360" cy="18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B5F09A7E-CC0A-22DD-F8FF-F43EF0073318}"/>
              </a:ext>
            </a:extLst>
          </p:cNvPr>
          <p:cNvGrpSpPr/>
          <p:nvPr/>
        </p:nvGrpSpPr>
        <p:grpSpPr>
          <a:xfrm>
            <a:off x="9394938" y="1483278"/>
            <a:ext cx="419400" cy="25560"/>
            <a:chOff x="9394938" y="1483278"/>
            <a:chExt cx="419400" cy="2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37D32AB-3A06-1911-03D4-59816D3EC759}"/>
                    </a:ext>
                  </a:extLst>
                </p14:cNvPr>
                <p14:cNvContentPartPr/>
                <p14:nvPr/>
              </p14:nvContentPartPr>
              <p14:xfrm>
                <a:off x="9394938" y="1483278"/>
                <a:ext cx="216720" cy="18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37D32AB-3A06-1911-03D4-59816D3EC75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376938" y="1465278"/>
                  <a:ext cx="2523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8533B6D-BB3C-F0D2-A95A-F2D6AEA42DEA}"/>
                    </a:ext>
                  </a:extLst>
                </p14:cNvPr>
                <p14:cNvContentPartPr/>
                <p14:nvPr/>
              </p14:nvContentPartPr>
              <p14:xfrm>
                <a:off x="9813978" y="1490118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8533B6D-BB3C-F0D2-A95A-F2D6AEA42DE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96338" y="147211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9EF5D7B-B3F6-BC76-1B77-CC3B3E82FCD8}"/>
                    </a:ext>
                  </a:extLst>
                </p14:cNvPr>
                <p14:cNvContentPartPr/>
                <p14:nvPr/>
              </p14:nvContentPartPr>
              <p14:xfrm>
                <a:off x="9807138" y="1499118"/>
                <a:ext cx="360" cy="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9EF5D7B-B3F6-BC76-1B77-CC3B3E82FCD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89138" y="148147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AE532B5-D44B-FB1A-45F5-76E892F61BA7}"/>
                    </a:ext>
                  </a:extLst>
                </p14:cNvPr>
                <p14:cNvContentPartPr/>
                <p14:nvPr/>
              </p14:nvContentPartPr>
              <p14:xfrm>
                <a:off x="9813978" y="1506318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AE532B5-D44B-FB1A-45F5-76E892F61BA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96338" y="148831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5FD37E8-1D4F-5D30-2B7F-4FB2917CB02E}"/>
                    </a:ext>
                  </a:extLst>
                </p14:cNvPr>
                <p14:cNvContentPartPr/>
                <p14:nvPr/>
              </p14:nvContentPartPr>
              <p14:xfrm>
                <a:off x="9729018" y="1508478"/>
                <a:ext cx="360" cy="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5FD37E8-1D4F-5D30-2B7F-4FB2917CB02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11018" y="149047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D3CC0A0-5280-421D-F2CD-362266462D36}"/>
                    </a:ext>
                  </a:extLst>
                </p14:cNvPr>
                <p14:cNvContentPartPr/>
                <p14:nvPr/>
              </p14:nvContentPartPr>
              <p14:xfrm>
                <a:off x="9765738" y="1508478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D3CC0A0-5280-421D-F2CD-362266462D3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47738" y="149047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5B5639A-5777-0BDD-DBAE-E95235BBAA92}"/>
                  </a:ext>
                </a:extLst>
              </p14:cNvPr>
              <p14:cNvContentPartPr/>
              <p14:nvPr/>
            </p14:nvContentPartPr>
            <p14:xfrm>
              <a:off x="3508798" y="3994718"/>
              <a:ext cx="1044000" cy="1062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5B5639A-5777-0BDD-DBAE-E95235BBAA9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91158" y="3976718"/>
                <a:ext cx="1079640" cy="14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01BC4A57-8C79-5291-51B0-35563182BD06}"/>
              </a:ext>
            </a:extLst>
          </p:cNvPr>
          <p:cNvGrpSpPr/>
          <p:nvPr/>
        </p:nvGrpSpPr>
        <p:grpSpPr>
          <a:xfrm>
            <a:off x="4018918" y="4106678"/>
            <a:ext cx="41760" cy="4680"/>
            <a:chOff x="4018918" y="4106678"/>
            <a:chExt cx="41760" cy="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1106BA3-37AF-8C66-5A66-4073A2263DDD}"/>
                    </a:ext>
                  </a:extLst>
                </p14:cNvPr>
                <p14:cNvContentPartPr/>
                <p14:nvPr/>
              </p14:nvContentPartPr>
              <p14:xfrm>
                <a:off x="4018918" y="4110998"/>
                <a:ext cx="15480" cy="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1106BA3-37AF-8C66-5A66-4073A2263DD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01278" y="4093358"/>
                  <a:ext cx="51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4D64611-807F-362F-1987-738F5A33AE6C}"/>
                    </a:ext>
                  </a:extLst>
                </p14:cNvPr>
                <p14:cNvContentPartPr/>
                <p14:nvPr/>
              </p14:nvContentPartPr>
              <p14:xfrm>
                <a:off x="4060318" y="4106678"/>
                <a:ext cx="360" cy="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4D64611-807F-362F-1987-738F5A33AE6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42678" y="408867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DBC65855-7E0B-2FC8-29B7-C882CDC00543}"/>
                  </a:ext>
                </a:extLst>
              </p14:cNvPr>
              <p14:cNvContentPartPr/>
              <p14:nvPr/>
            </p14:nvContentPartPr>
            <p14:xfrm>
              <a:off x="8809738" y="4002638"/>
              <a:ext cx="823680" cy="7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DBC65855-7E0B-2FC8-29B7-C882CDC0054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791738" y="3966638"/>
                <a:ext cx="8593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0646AA54-835B-4545-46C0-1EAC89C382CA}"/>
                  </a:ext>
                </a:extLst>
              </p14:cNvPr>
              <p14:cNvContentPartPr/>
              <p14:nvPr/>
            </p14:nvContentPartPr>
            <p14:xfrm>
              <a:off x="8813698" y="3925598"/>
              <a:ext cx="1019160" cy="824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0646AA54-835B-4545-46C0-1EAC89C382C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796058" y="3907598"/>
                <a:ext cx="105480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8046BE6-6EDF-643F-C370-D0AD70F9323C}"/>
                  </a:ext>
                </a:extLst>
              </p14:cNvPr>
              <p14:cNvContentPartPr/>
              <p14:nvPr/>
            </p14:nvContentPartPr>
            <p14:xfrm>
              <a:off x="3350940" y="1459270"/>
              <a:ext cx="1021320" cy="316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8046BE6-6EDF-643F-C370-D0AD70F9323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332940" y="1441630"/>
                <a:ext cx="105696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4251640-916F-C97E-B70D-818ED1EA44DF}"/>
                  </a:ext>
                </a:extLst>
              </p14:cNvPr>
              <p14:cNvContentPartPr/>
              <p14:nvPr/>
            </p14:nvContentPartPr>
            <p14:xfrm>
              <a:off x="4188300" y="1371430"/>
              <a:ext cx="360" cy="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4251640-916F-C97E-B70D-818ED1EA44D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152660" y="1335430"/>
                <a:ext cx="72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8CF67EE5-5B64-5538-AA2F-8C0A82A13EBB}"/>
              </a:ext>
            </a:extLst>
          </p:cNvPr>
          <p:cNvGrpSpPr/>
          <p:nvPr/>
        </p:nvGrpSpPr>
        <p:grpSpPr>
          <a:xfrm>
            <a:off x="3369300" y="1455310"/>
            <a:ext cx="918720" cy="38520"/>
            <a:chOff x="3369300" y="1455310"/>
            <a:chExt cx="918720" cy="3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49221E6-EF82-E256-0261-7E2FC68D150B}"/>
                    </a:ext>
                  </a:extLst>
                </p14:cNvPr>
                <p14:cNvContentPartPr/>
                <p14:nvPr/>
              </p14:nvContentPartPr>
              <p14:xfrm>
                <a:off x="3369300" y="1455310"/>
                <a:ext cx="918720" cy="38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49221E6-EF82-E256-0261-7E2FC68D150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333660" y="1419670"/>
                  <a:ext cx="9903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59F1309-A486-A59C-C365-CF7063BBDE38}"/>
                    </a:ext>
                  </a:extLst>
                </p14:cNvPr>
                <p14:cNvContentPartPr/>
                <p14:nvPr/>
              </p14:nvContentPartPr>
              <p14:xfrm>
                <a:off x="3489900" y="1487710"/>
                <a:ext cx="360" cy="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59F1309-A486-A59C-C365-CF7063BBDE3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53900" y="145207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D328FA6E-10D9-2EEB-B0B2-CF42F79EF6A6}"/>
              </a:ext>
            </a:extLst>
          </p:cNvPr>
          <p:cNvSpPr txBox="1"/>
          <p:nvPr/>
        </p:nvSpPr>
        <p:spPr>
          <a:xfrm>
            <a:off x="4188300" y="6382921"/>
            <a:ext cx="41314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Figure 4: Spring Climate variables Timeseries</a:t>
            </a:r>
          </a:p>
        </p:txBody>
      </p:sp>
    </p:spTree>
    <p:extLst>
      <p:ext uri="{BB962C8B-B14F-4D97-AF65-F5344CB8AC3E}">
        <p14:creationId xmlns:p14="http://schemas.microsoft.com/office/powerpoint/2010/main" val="1904358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09BF4-2C06-CA94-D73A-1AC3DB34A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orful squares with black text&#10;&#10;AI-generated content may be incorrect.">
            <a:extLst>
              <a:ext uri="{FF2B5EF4-FFF2-40B4-BE49-F238E27FC236}">
                <a16:creationId xmlns:a16="http://schemas.microsoft.com/office/drawing/2014/main" id="{933306AE-62EC-2C10-1D51-34864631DA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675" y="485644"/>
            <a:ext cx="9353747" cy="62358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14D85C-D242-AEF0-1038-7E2785176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12F6B"/>
                </a:solidFill>
              </a:rPr>
              <a:t>Correlation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2DBBF0-3484-233B-DF99-EB8AF809A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2573" y="545637"/>
            <a:ext cx="1295585" cy="96453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01788-5DD5-0B6E-FA65-CE30783D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9FD6-1021-4C3A-93E7-95CE4942064D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14" name="Content Placeholder 11">
            <a:extLst>
              <a:ext uri="{FF2B5EF4-FFF2-40B4-BE49-F238E27FC236}">
                <a16:creationId xmlns:a16="http://schemas.microsoft.com/office/drawing/2014/main" id="{8709E0B9-442A-CD69-F8CE-FCBDE07F65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1595822"/>
              </p:ext>
            </p:extLst>
          </p:nvPr>
        </p:nvGraphicFramePr>
        <p:xfrm>
          <a:off x="647711" y="1546234"/>
          <a:ext cx="3690113" cy="50329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3114D64-2B29-089E-9471-AF7BE533DEC0}"/>
              </a:ext>
            </a:extLst>
          </p:cNvPr>
          <p:cNvSpPr txBox="1"/>
          <p:nvPr/>
        </p:nvSpPr>
        <p:spPr>
          <a:xfrm>
            <a:off x="5050328" y="6492442"/>
            <a:ext cx="28477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Figure 5: Correlation Heatmap</a:t>
            </a:r>
          </a:p>
        </p:txBody>
      </p:sp>
    </p:spTree>
    <p:extLst>
      <p:ext uri="{BB962C8B-B14F-4D97-AF65-F5344CB8AC3E}">
        <p14:creationId xmlns:p14="http://schemas.microsoft.com/office/powerpoint/2010/main" val="508402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02DDF-3D13-3E5E-9EA3-63C22C32F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669FF-0F75-84F3-6ACA-38E43EAA7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875" y="28107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12F6B"/>
                </a:solidFill>
              </a:rPr>
              <a:t>Model Summary (MAM)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F6F18E-1984-37B6-6DE7-0A3BF8022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2573" y="545637"/>
            <a:ext cx="1295585" cy="96453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64C07-1BB8-6436-94BA-8A250D5FC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9FD6-1021-4C3A-93E7-95CE4942064D}" type="slidenum">
              <a:rPr lang="en-US" smtClean="0"/>
              <a:t>8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3622EF-19EE-C260-C186-E07F55049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75" y="3178442"/>
            <a:ext cx="10428249" cy="2735700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D9891EAB-175C-3567-DB76-CA3023887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875" y="1578710"/>
            <a:ext cx="6203622" cy="18502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Chosen model: Logistic regression </a:t>
            </a:r>
          </a:p>
          <a:p>
            <a:pPr marL="0" indent="0">
              <a:buNone/>
            </a:pPr>
            <a:r>
              <a:rPr lang="en-US" sz="2000" dirty="0"/>
              <a:t>It has the best recall and F1 for high-FWI cases, so it actually detects dangerous days, even though its overall accuracy is lower than the tree models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E90331C-07DB-824B-7C88-97564E1295C7}"/>
                  </a:ext>
                </a:extLst>
              </p14:cNvPr>
              <p14:cNvContentPartPr/>
              <p14:nvPr/>
            </p14:nvContentPartPr>
            <p14:xfrm>
              <a:off x="6735392" y="4453037"/>
              <a:ext cx="10137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E90331C-07DB-824B-7C88-97564E1295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63752" y="4309397"/>
                <a:ext cx="11574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57B8F35-310B-D793-EF19-87356412280C}"/>
                  </a:ext>
                </a:extLst>
              </p14:cNvPr>
              <p14:cNvContentPartPr/>
              <p14:nvPr/>
            </p14:nvContentPartPr>
            <p14:xfrm>
              <a:off x="5355872" y="4453037"/>
              <a:ext cx="109188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57B8F35-310B-D793-EF19-87356412280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84232" y="4309397"/>
                <a:ext cx="123552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9F1398CC-5D01-2C97-D823-BBC365DDDFC9}"/>
              </a:ext>
            </a:extLst>
          </p:cNvPr>
          <p:cNvSpPr txBox="1"/>
          <p:nvPr/>
        </p:nvSpPr>
        <p:spPr>
          <a:xfrm>
            <a:off x="881875" y="5914142"/>
            <a:ext cx="4368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Figure 6: Model Summery table (MAM variables)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FC7140-A504-7A5A-149C-944DC5FD2CF9}"/>
              </a:ext>
            </a:extLst>
          </p:cNvPr>
          <p:cNvSpPr txBox="1"/>
          <p:nvPr/>
        </p:nvSpPr>
        <p:spPr>
          <a:xfrm>
            <a:off x="6803136" y="599260"/>
            <a:ext cx="5388864" cy="25853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solidFill>
              <a:srgbClr val="012F6B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Accuracy: </a:t>
            </a:r>
            <a:r>
              <a:rPr lang="en-US" dirty="0"/>
              <a:t>Fraction of all days predicted correctly.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Precision: </a:t>
            </a:r>
            <a:r>
              <a:rPr lang="en-US" dirty="0"/>
              <a:t>Among days predicted high FWI, how many were actually high.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Recall: </a:t>
            </a:r>
            <a:r>
              <a:rPr lang="en-US" dirty="0"/>
              <a:t>Among days that were actually high FWI, how many the model caught.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F1-score: </a:t>
            </a:r>
            <a:r>
              <a:rPr lang="en-US" dirty="0"/>
              <a:t>Single number that balances precision and recall (higher = better).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Brier score: </a:t>
            </a:r>
            <a:r>
              <a:rPr lang="en-US" dirty="0"/>
              <a:t>Error of predicted probabilities for high FWI (mean squared error; lower = better).</a:t>
            </a:r>
          </a:p>
        </p:txBody>
      </p:sp>
    </p:spTree>
    <p:extLst>
      <p:ext uri="{BB962C8B-B14F-4D97-AF65-F5344CB8AC3E}">
        <p14:creationId xmlns:p14="http://schemas.microsoft.com/office/powerpoint/2010/main" val="3222570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D6463-1584-A8C9-2D63-3A3BBF80E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82D05-401D-608B-123E-3C50B6EC6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12F6B"/>
                </a:solidFill>
              </a:rPr>
              <a:t>Model Summary (MAM+ ENSO)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2BB00-59D5-285C-F692-DA708AB3E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10417404" cy="42263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Adding ENSO gives only a </a:t>
            </a:r>
            <a:r>
              <a:rPr lang="en-US" sz="2400" b="1" dirty="0"/>
              <a:t>very small improvement</a:t>
            </a:r>
            <a:r>
              <a:rPr lang="en-US" sz="2400" dirty="0"/>
              <a:t> to the logistic model; most of the predictive power still comes from local spring variables.</a:t>
            </a:r>
          </a:p>
          <a:p>
            <a:pPr marL="0" indent="0">
              <a:buNone/>
            </a:pPr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C4883D-6D0A-6262-D387-43AC9B611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2573" y="545637"/>
            <a:ext cx="1295585" cy="96453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867BCC-4A72-27DD-D448-6A03C78D2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9FD6-1021-4C3A-93E7-95CE4942064D}" type="slidenum">
              <a:rPr lang="en-US" smtClean="0"/>
              <a:t>9</a:t>
            </a:fld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617D2F2-2909-E514-4F52-220464E11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531336"/>
            <a:ext cx="10313709" cy="22095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EF62ACF-A58B-6244-13A1-E80A222AF27A}"/>
                  </a:ext>
                </a:extLst>
              </p14:cNvPr>
              <p14:cNvContentPartPr/>
              <p14:nvPr/>
            </p14:nvContentPartPr>
            <p14:xfrm>
              <a:off x="3561725" y="4717165"/>
              <a:ext cx="10479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EF62ACF-A58B-6244-13A1-E80A222AF27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90085" y="4573165"/>
                <a:ext cx="11916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A7FCDAC-6658-6FA5-C5A8-9AE6A5BDED42}"/>
                  </a:ext>
                </a:extLst>
              </p14:cNvPr>
              <p14:cNvContentPartPr/>
              <p14:nvPr/>
            </p14:nvContentPartPr>
            <p14:xfrm>
              <a:off x="5311725" y="4717165"/>
              <a:ext cx="119304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A7FCDAC-6658-6FA5-C5A8-9AE6A5BDED4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39725" y="4573165"/>
                <a:ext cx="133668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F6D8249-65C3-3E81-41E9-DF57A72C00E0}"/>
                  </a:ext>
                </a:extLst>
              </p14:cNvPr>
              <p14:cNvContentPartPr/>
              <p14:nvPr/>
            </p14:nvContentPartPr>
            <p14:xfrm>
              <a:off x="6793301" y="4717165"/>
              <a:ext cx="98712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F6D8249-65C3-3E81-41E9-DF57A72C00E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21661" y="4573165"/>
                <a:ext cx="11307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3EC756B-3441-B45F-A797-E5D3D8EDD6AF}"/>
                  </a:ext>
                </a:extLst>
              </p14:cNvPr>
              <p14:cNvContentPartPr/>
              <p14:nvPr/>
            </p14:nvContentPartPr>
            <p14:xfrm>
              <a:off x="7982952" y="4717165"/>
              <a:ext cx="105732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3EC756B-3441-B45F-A797-E5D3D8EDD6A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11312" y="4573165"/>
                <a:ext cx="12009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005A6D9-9E00-D329-97B8-F04334A05429}"/>
                  </a:ext>
                </a:extLst>
              </p14:cNvPr>
              <p14:cNvContentPartPr/>
              <p14:nvPr/>
            </p14:nvContentPartPr>
            <p14:xfrm>
              <a:off x="9242803" y="4717165"/>
              <a:ext cx="1080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005A6D9-9E00-D329-97B8-F04334A0542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171163" y="4573165"/>
                <a:ext cx="122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A3BA5F7D-A34F-C847-9703-5F31862D6B68}"/>
              </a:ext>
            </a:extLst>
          </p:cNvPr>
          <p:cNvSpPr txBox="1"/>
          <p:nvPr/>
        </p:nvSpPr>
        <p:spPr>
          <a:xfrm>
            <a:off x="796757" y="5744789"/>
            <a:ext cx="4183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Figure 7: Model summary table (MAM+ ENSO)</a:t>
            </a:r>
          </a:p>
        </p:txBody>
      </p:sp>
    </p:spTree>
    <p:extLst>
      <p:ext uri="{BB962C8B-B14F-4D97-AF65-F5344CB8AC3E}">
        <p14:creationId xmlns:p14="http://schemas.microsoft.com/office/powerpoint/2010/main" val="223371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754DC-8074-8CE4-B213-6CD580267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AEFD9-79A3-0952-3399-C57D89F7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12F6B"/>
                </a:solidFill>
              </a:rPr>
              <a:t>Conclusion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0EBB55A-8B60-5CBA-BB4C-0B60FCF145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6169786"/>
              </p:ext>
            </p:extLst>
          </p:nvPr>
        </p:nvGraphicFramePr>
        <p:xfrm>
          <a:off x="774340" y="1510174"/>
          <a:ext cx="10888133" cy="4665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07CE067-2A65-13FF-09B0-E91D8D80A5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12573" y="545637"/>
            <a:ext cx="1295585" cy="96453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F18D0B-4627-97E4-C03D-5AF628D61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9FD6-1021-4C3A-93E7-95CE494206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7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EC2B9-2802-42DC-E547-D1F4C50D2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4B75D-4E94-E4ED-1DA0-55957BD60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12F6B"/>
                </a:solidFill>
              </a:rPr>
              <a:t>Future Work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188B214A-BEFA-92F2-03D2-1D5E77AD70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4809713"/>
              </p:ext>
            </p:extLst>
          </p:nvPr>
        </p:nvGraphicFramePr>
        <p:xfrm>
          <a:off x="770467" y="1510174"/>
          <a:ext cx="10888133" cy="4665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4BD2458-4680-4192-D74B-2849B7762E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12573" y="545637"/>
            <a:ext cx="1295585" cy="96453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9D1D41-C6B6-FA1B-6B2F-B50BC68A2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9FD6-1021-4C3A-93E7-95CE494206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5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F81E2-3DC4-5B5E-B696-0F23DBF43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B401C-42BA-3665-41B3-22005B153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12F6B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D3AE5-1107-7321-9E48-6C3663750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173"/>
            <a:ext cx="10820400" cy="4802189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hlinkClick r:id="rId2"/>
              </a:rPr>
              <a:t>https://cwfis.cfs.nrcan.gc.ca/background/summary/fwi</a:t>
            </a:r>
            <a:endParaRPr lang="en-US" sz="2600" dirty="0"/>
          </a:p>
          <a:p>
            <a:pPr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600" dirty="0"/>
              <a:t>Van Wagner, C. E. (1987). </a:t>
            </a:r>
            <a:r>
              <a:rPr lang="en-US" altLang="en-US" sz="2600" i="1" dirty="0"/>
              <a:t>Development and structure of the Canadian Forest Fire Weather Index System.</a:t>
            </a:r>
            <a:r>
              <a:rPr lang="en-US" altLang="en-US" sz="2600" dirty="0"/>
              <a:t> Canadian Forestry Service, Forestry Technical Report.</a:t>
            </a:r>
          </a:p>
          <a:p>
            <a:pPr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600" dirty="0"/>
              <a:t>Vitolo, C., Di Giuseppe, F., Krzeminski, B., &amp; San-Miguel-</a:t>
            </a:r>
            <a:r>
              <a:rPr lang="en-US" altLang="en-US" sz="2600" dirty="0" err="1"/>
              <a:t>Ayanz</a:t>
            </a:r>
            <a:r>
              <a:rPr lang="en-US" altLang="en-US" sz="2600" dirty="0"/>
              <a:t>, J. (2019). A 1980–2018 global fire danger re-analysis dataset for the Canadian Fire Weather Indices. </a:t>
            </a:r>
            <a:r>
              <a:rPr lang="en-US" altLang="en-US" sz="2600" i="1" dirty="0"/>
              <a:t>Scientific Data, 6</a:t>
            </a:r>
            <a:r>
              <a:rPr lang="en-US" altLang="en-US" sz="2600" dirty="0"/>
              <a:t>, 196. </a:t>
            </a:r>
            <a:r>
              <a:rPr lang="en-US" altLang="en-US" sz="2600" dirty="0">
                <a:hlinkClick r:id="rId3"/>
              </a:rPr>
              <a:t>https://doi.org/10.1038/sdata.2019.32</a:t>
            </a:r>
            <a:endParaRPr lang="en-US" altLang="en-US" sz="2600" dirty="0"/>
          </a:p>
          <a:p>
            <a:pPr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600" dirty="0"/>
              <a:t>Di Giuseppe, F., Vitolo, C., Barnard, C., </a:t>
            </a:r>
            <a:r>
              <a:rPr lang="en-US" altLang="en-US" sz="2600" dirty="0" err="1"/>
              <a:t>Libertá</a:t>
            </a:r>
            <a:r>
              <a:rPr lang="en-US" altLang="en-US" sz="2600" dirty="0"/>
              <a:t>, G., Maciel, P., San-Miguel-</a:t>
            </a:r>
            <a:r>
              <a:rPr lang="en-US" altLang="en-US" sz="2600" dirty="0" err="1"/>
              <a:t>Ayanz</a:t>
            </a:r>
            <a:r>
              <a:rPr lang="en-US" altLang="en-US" sz="2600" dirty="0"/>
              <a:t>, J., et al. (2024). Global seasonal prediction of fire danger. </a:t>
            </a:r>
            <a:r>
              <a:rPr lang="en-US" altLang="en-US" sz="2600" i="1" dirty="0"/>
              <a:t>Scientific Data, 11</a:t>
            </a:r>
            <a:r>
              <a:rPr lang="en-US" altLang="en-US" sz="2600" dirty="0"/>
              <a:t>, 128. </a:t>
            </a:r>
            <a:r>
              <a:rPr lang="en-US" altLang="en-US" sz="2600" dirty="0">
                <a:hlinkClick r:id="rId4"/>
              </a:rPr>
              <a:t>https://doi.org/10.1038/s41597-024-02948-3</a:t>
            </a:r>
            <a:r>
              <a:rPr lang="en-US" altLang="en-US" sz="2600" dirty="0"/>
              <a:t> </a:t>
            </a:r>
            <a:r>
              <a:rPr lang="en-US" altLang="en-US" sz="2600" dirty="0">
                <a:hlinkClick r:id="rId5"/>
              </a:rPr>
              <a:t>Nature+1</a:t>
            </a:r>
            <a:endParaRPr lang="en-US" altLang="en-US" sz="2600" dirty="0"/>
          </a:p>
          <a:p>
            <a:pPr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600" dirty="0"/>
              <a:t>Bedia, J., Golding, N., Casanueva, A., Iturbide, M., Buontempo, C., &amp; Gutiérrez, J. M. (2018). Seasonal predictions of Fire Weather Index: Paving the way for their operational applicability in Mediterranean Europe. </a:t>
            </a:r>
            <a:r>
              <a:rPr lang="en-US" altLang="en-US" sz="2600" i="1" dirty="0"/>
              <a:t>Climate Services, 9</a:t>
            </a:r>
            <a:r>
              <a:rPr lang="en-US" altLang="en-US" sz="2600" dirty="0"/>
              <a:t>, 101–110. </a:t>
            </a:r>
            <a:r>
              <a:rPr lang="en-US" altLang="en-US" sz="2600" dirty="0">
                <a:hlinkClick r:id="rId6"/>
              </a:rPr>
              <a:t>https://doi.org/10.1016/j.cliser.2017.04.001</a:t>
            </a:r>
            <a:r>
              <a:rPr lang="en-US" altLang="en-US" sz="2600" dirty="0"/>
              <a:t> </a:t>
            </a:r>
            <a:r>
              <a:rPr lang="en-US" altLang="en-US" sz="2600" dirty="0">
                <a:hlinkClick r:id="rId7"/>
              </a:rPr>
              <a:t>ScienceDirect+1</a:t>
            </a:r>
            <a:endParaRPr lang="en-US" altLang="en-US" sz="2600" dirty="0"/>
          </a:p>
          <a:p>
            <a:pPr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600" dirty="0"/>
              <a:t>Shmuel, A., </a:t>
            </a:r>
            <a:r>
              <a:rPr lang="en-US" altLang="en-US" sz="2600" dirty="0" err="1"/>
              <a:t>Lazebnik</a:t>
            </a:r>
            <a:r>
              <a:rPr lang="en-US" altLang="en-US" sz="2600" dirty="0"/>
              <a:t>, T., Heifetz, E., Glickman, O., &amp; Price, C. (2025). Fire weather indices tailored to regional patterns outperform global models. </a:t>
            </a:r>
            <a:r>
              <a:rPr lang="en-US" altLang="en-US" sz="2600" i="1" dirty="0" err="1"/>
              <a:t>npj</a:t>
            </a:r>
            <a:r>
              <a:rPr lang="en-US" altLang="en-US" sz="2600" i="1" dirty="0"/>
              <a:t> Natural Hazards, 2</a:t>
            </a:r>
            <a:r>
              <a:rPr lang="en-US" altLang="en-US" sz="2600" dirty="0"/>
              <a:t>, 74. </a:t>
            </a:r>
            <a:r>
              <a:rPr lang="en-US" altLang="en-US" sz="2600" dirty="0">
                <a:hlinkClick r:id="rId8"/>
              </a:rPr>
              <a:t>https://doi.org/10.1038/s44304-025-00126-y</a:t>
            </a:r>
            <a:r>
              <a:rPr lang="en-US" altLang="en-US" sz="2600" dirty="0"/>
              <a:t> </a:t>
            </a:r>
            <a:r>
              <a:rPr lang="en-US" altLang="en-US" sz="2600" dirty="0">
                <a:hlinkClick r:id="rId9"/>
              </a:rPr>
              <a:t>Nature</a:t>
            </a:r>
            <a:endParaRPr lang="en-US" altLang="en-US" sz="2600" dirty="0"/>
          </a:p>
          <a:p>
            <a:pPr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600" dirty="0"/>
              <a:t>Chen, Y., Morton, D. C., Andela, N., Giglio, L., &amp; Randerson, J. T. (2016). How much global burned area can be forecast on seasonal time scales using sea surface temperatures? </a:t>
            </a:r>
            <a:r>
              <a:rPr lang="en-US" altLang="en-US" sz="2600" i="1" dirty="0"/>
              <a:t>Environmental Research Letters, 11</a:t>
            </a:r>
            <a:r>
              <a:rPr lang="en-US" altLang="en-US" sz="2600" dirty="0"/>
              <a:t>, 045001.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14C49-F514-1D59-BF57-32D7BA755E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12573" y="545637"/>
            <a:ext cx="1295585" cy="96453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D0E31-AF1E-1991-B218-7AFEEC731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9FD6-1021-4C3A-93E7-95CE494206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17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2165</TotalTime>
  <Words>1183</Words>
  <Application>Microsoft Office PowerPoint</Application>
  <PresentationFormat>Widescreen</PresentationFormat>
  <Paragraphs>117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Preseason Climate Controls on Summer Fire Weather  in Manitoba </vt:lpstr>
      <vt:lpstr>Background and Objectives</vt:lpstr>
      <vt:lpstr>Datasets and Variables</vt:lpstr>
      <vt:lpstr>Methods</vt:lpstr>
      <vt:lpstr>Timeseries</vt:lpstr>
      <vt:lpstr>Timeseries</vt:lpstr>
      <vt:lpstr>Correlation </vt:lpstr>
      <vt:lpstr>Model Summary (MAM)</vt:lpstr>
      <vt:lpstr>Model Summary (MAM+ ENSO)</vt:lpstr>
      <vt:lpstr>Conclusion</vt:lpstr>
      <vt:lpstr>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Niloofar Raeispour</dc:creator>
  <cp:lastModifiedBy>Niloofar Raeispour</cp:lastModifiedBy>
  <cp:revision>14</cp:revision>
  <dcterms:created xsi:type="dcterms:W3CDTF">2025-11-25T19:35:38Z</dcterms:created>
  <dcterms:modified xsi:type="dcterms:W3CDTF">2025-12-18T00:48:14Z</dcterms:modified>
</cp:coreProperties>
</file>